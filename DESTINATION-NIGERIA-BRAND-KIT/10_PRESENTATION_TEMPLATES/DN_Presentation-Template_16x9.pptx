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values</c:v>
                </c:pt>
              </c:strCache>
            </c:strRef>
          </c:tx>
          <c:spPr>
            <a:solidFill>
              <a:srgbClr val="103428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North Central</c:v>
                </c:pt>
                <c:pt idx="1">
                  <c:v>North East</c:v>
                </c:pt>
                <c:pt idx="2">
                  <c:v>North West</c:v>
                </c:pt>
                <c:pt idx="3">
                  <c:v>South East</c:v>
                </c:pt>
                <c:pt idx="4">
                  <c:v>South South</c:v>
                </c:pt>
                <c:pt idx="5">
                  <c:v>South West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18</c:v>
                </c:pt>
                <c:pt idx="2">
                  <c:v>27</c:v>
                </c:pt>
                <c:pt idx="3">
                  <c:v>31</c:v>
                </c:pt>
                <c:pt idx="4">
                  <c:v>38</c:v>
                </c:pt>
                <c:pt idx="5">
                  <c:v>55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103428"/>
            </a:solidFill>
          </a:ln>
        </c:spPr>
        <c:txPr>
          <a:bodyPr/>
          <a:lstStyle/>
          <a:p>
            <a:pPr>
              <a:defRPr>
                <a:solidFill>
                  <a:srgbClr val="1B201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7DFC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F666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B201E"/>
          </a:solidFill>
          <a:latin typeface="Public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 (illustrative)</c:v>
                </c:pt>
              </c:strCache>
            </c:strRef>
          </c:tx>
          <c:spPr>
            <a:solidFill>
              <a:srgbClr val="103428"/>
            </a:solidFill>
            <a:ln w="28575">
              <a:solidFill>
                <a:srgbClr val="103428"/>
              </a:solidFill>
            </a:ln>
          </c:spPr>
          <c:marker>
            <c:spPr>
              <a:solidFill>
                <a:srgbClr val="103428"/>
              </a:solidFill>
              <a:ln>
                <a:noFill/>
              </a:ln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26</c:v>
                </c:pt>
                <c:pt idx="2">
                  <c:v>31</c:v>
                </c:pt>
                <c:pt idx="3">
                  <c:v>35</c:v>
                </c:pt>
                <c:pt idx="4">
                  <c:v>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B (illustrative)</c:v>
                </c:pt>
              </c:strCache>
            </c:strRef>
          </c:tx>
          <c:spPr>
            <a:solidFill>
              <a:srgbClr val="A9BFA9"/>
            </a:solidFill>
            <a:ln w="28575">
              <a:solidFill>
                <a:srgbClr val="A9BFA9"/>
              </a:solidFill>
            </a:ln>
          </c:spPr>
          <c:marker>
            <c:spPr>
              <a:solidFill>
                <a:srgbClr val="A9BFA9"/>
              </a:solidFill>
              <a:ln>
                <a:noFill/>
              </a:ln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</c:v>
                </c:pt>
                <c:pt idx="1">
                  <c:v>15</c:v>
                </c:pt>
                <c:pt idx="2">
                  <c:v>19</c:v>
                </c:pt>
                <c:pt idx="3">
                  <c:v>24</c:v>
                </c:pt>
                <c:pt idx="4">
                  <c:v>27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03428"/>
            </a:solidFill>
          </a:ln>
        </c:spPr>
        <c:txPr>
          <a:bodyPr/>
          <a:lstStyle/>
          <a:p>
            <a:pPr>
              <a:defRPr>
                <a:solidFill>
                  <a:srgbClr val="1B201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7DFC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F6662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1B201E"/>
          </a:solidFill>
          <a:latin typeface="Public Sans"/>
        </a:defRPr>
      </a:pPr>
      <a:endParaRPr lang="en-US"/>
    </a:p>
  </c:txPr>
  <c:externalData r:id="rId1">
    <c:autoUpdate val="0"/>
  </c:externalData>
</c:chartSpace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0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01 Cover: photograph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 11"/>
          <p:cNvSpPr>
            <a:spLocks noGrp="1"/>
          </p:cNvSpPr>
          <p:nvPr>
            <p:ph type="pic" idx="13"/>
          </p:nvPr>
        </p:nvSpPr>
        <p:spPr>
          <a:xfrm>
            <a:off x="0" y="0"/>
            <a:ext cx="12191695" cy="4297680"/>
          </a:xfrm>
          <a:solidFill>
            <a:srgbClr val="E7DFCF"/>
          </a:solidFill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6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Insert a photograph from 06/LIBRARY (place it, then caption it)</a:t>
            </a:r>
          </a:p>
        </p:txBody>
      </p:sp>
      <p:sp>
        <p:nvSpPr>
          <p:cNvPr id="12" name="Photo caption"/>
          <p:cNvSpPr>
            <a:spLocks noGrp="1"/>
          </p:cNvSpPr>
          <p:nvPr>
            <p:ph type="body" idx="31"/>
          </p:nvPr>
        </p:nvSpPr>
        <p:spPr>
          <a:xfrm>
            <a:off x="685800" y="4407408"/>
            <a:ext cx="5486400" cy="2286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9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Place, State</a:t>
            </a:r>
          </a:p>
        </p:txBody>
      </p:sp>
      <p:sp>
        <p:nvSpPr>
          <p:cNvPr id="13" name="Title 13"/>
          <p:cNvSpPr>
            <a:spLocks noGrp="1"/>
          </p:cNvSpPr>
          <p:nvPr>
            <p:ph type="title"/>
          </p:nvPr>
        </p:nvSpPr>
        <p:spPr>
          <a:xfrm>
            <a:off x="685800" y="4800600"/>
            <a:ext cx="7863840" cy="10972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40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Presentation title</a:t>
            </a:r>
          </a:p>
        </p:txBody>
      </p:sp>
      <p:sp>
        <p:nvSpPr>
          <p:cNvPr id="14" name="Body 14"/>
          <p:cNvSpPr>
            <a:spLocks noGrp="1"/>
          </p:cNvSpPr>
          <p:nvPr>
            <p:ph type="body" idx="1"/>
          </p:nvPr>
        </p:nvSpPr>
        <p:spPr>
          <a:xfrm>
            <a:off x="685800" y="5989320"/>
            <a:ext cx="6858000" cy="320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3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Audience  ·  Presenter  ·  Date</a:t>
            </a:r>
          </a:p>
        </p:txBody>
      </p:sp>
      <p:pic>
        <p:nvPicPr>
          <p:cNvPr id="15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5655" y="4983480"/>
            <a:ext cx="1920240" cy="7548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2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02 Cover: engraved plate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late: Zuma Roc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6440" y="685800"/>
            <a:ext cx="5715000" cy="3571875"/>
          </a:xfrm>
          <a:prstGeom prst="rect">
            <a:avLst/>
          </a:prstGeom>
        </p:spPr>
      </p:pic>
      <p:sp>
        <p:nvSpPr>
          <p:cNvPr id="17" name="Brand text"/>
          <p:cNvSpPr txBox="1"/>
          <p:nvPr userDrawn="1"/>
        </p:nvSpPr>
        <p:spPr>
          <a:xfrm>
            <a:off x="5806440" y="4367403"/>
            <a:ext cx="5715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b="0" spc="0">
                <a:solidFill>
                  <a:srgbClr val="5F6662"/>
                </a:solidFill>
                <a:latin typeface="+mn-lt"/>
              </a:rPr>
              <a:t>Pl. 01  Zuma Rock, Niger State</a:t>
            </a:r>
          </a:p>
        </p:txBody>
      </p:sp>
      <p:pic>
        <p:nvPicPr>
          <p:cNvPr id="18" name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5800" y="640080"/>
            <a:ext cx="1828800" cy="718861"/>
          </a:xfrm>
          <a:prstGeom prst="rect">
            <a:avLst/>
          </a:prstGeom>
        </p:spPr>
      </p:pic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685800" y="2377440"/>
            <a:ext cx="4754880" cy="20116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40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Presentation title</a:t>
            </a:r>
          </a:p>
        </p:txBody>
      </p:sp>
      <p:sp>
        <p:nvSpPr>
          <p:cNvPr id="20" name="Body 20"/>
          <p:cNvSpPr>
            <a:spLocks noGrp="1"/>
          </p:cNvSpPr>
          <p:nvPr>
            <p:ph type="body" idx="1"/>
          </p:nvPr>
        </p:nvSpPr>
        <p:spPr>
          <a:xfrm>
            <a:off x="685800" y="4709160"/>
            <a:ext cx="4754880" cy="8229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3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Audience  ·  Presenter  ·  Date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03 Section opener">
    <p:bg>
      <p:bgPr>
        <a:solidFill>
          <a:srgbClr val="103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 number"/>
          <p:cNvSpPr>
            <a:spLocks noGrp="1"/>
          </p:cNvSpPr>
          <p:nvPr>
            <p:ph type="body" idx="1"/>
          </p:nvPr>
        </p:nvSpPr>
        <p:spPr>
          <a:xfrm>
            <a:off x="685800" y="1097280"/>
            <a:ext cx="2743200" cy="12801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8800" b="0" i="0" spc="0">
                <a:solidFill>
                  <a:srgbClr val="A9BFA9"/>
                </a:solidFill>
                <a:latin typeface="+mj-lt"/>
              </a:defRPr>
            </a:lvl1pPr>
          </a:lstStyle>
          <a:p>
            <a:pPr algn="l"/>
            <a:r>
              <a:rPr lang="en-GB"/>
              <a:t>01</a:t>
            </a:r>
          </a:p>
        </p:txBody>
      </p:sp>
      <p:sp>
        <p:nvSpPr>
          <p:cNvPr id="22" name="Brand shape"/>
          <p:cNvSpPr/>
          <p:nvPr userDrawn="1"/>
        </p:nvSpPr>
        <p:spPr>
          <a:xfrm>
            <a:off x="685800" y="2971800"/>
            <a:ext cx="10820095" cy="10972"/>
          </a:xfrm>
          <a:prstGeom prst="rect">
            <a:avLst/>
          </a:prstGeom>
          <a:solidFill>
            <a:srgbClr val="2C504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Title 23"/>
          <p:cNvSpPr>
            <a:spLocks noGrp="1"/>
          </p:cNvSpPr>
          <p:nvPr>
            <p:ph type="title"/>
          </p:nvPr>
        </p:nvSpPr>
        <p:spPr>
          <a:xfrm>
            <a:off x="685800" y="3200400"/>
            <a:ext cx="8686800" cy="10972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4400" b="0" i="0" spc="0">
                <a:solidFill>
                  <a:srgbClr val="F5F0E6"/>
                </a:solidFill>
                <a:latin typeface="+mj-lt"/>
              </a:defRPr>
            </a:lvl1pPr>
          </a:lstStyle>
          <a:p>
            <a:pPr algn="l"/>
            <a:r>
              <a:rPr lang="en-GB"/>
              <a:t>Section title</a:t>
            </a:r>
          </a:p>
        </p:txBody>
      </p:sp>
      <p:sp>
        <p:nvSpPr>
          <p:cNvPr id="24" name="Body 24"/>
          <p:cNvSpPr>
            <a:spLocks noGrp="1"/>
          </p:cNvSpPr>
          <p:nvPr>
            <p:ph type="body" idx="2"/>
          </p:nvPr>
        </p:nvSpPr>
        <p:spPr>
          <a:xfrm>
            <a:off x="685800" y="4434840"/>
            <a:ext cx="6858000" cy="8229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2000" b="0" i="0" spc="0">
                <a:solidFill>
                  <a:srgbClr val="A9BFA9"/>
                </a:solidFill>
                <a:latin typeface="+mj-lt"/>
              </a:defRPr>
            </a:lvl1pPr>
          </a:lstStyle>
          <a:p>
            <a:pPr algn="l"/>
            <a:r>
              <a:rPr lang="en-GB"/>
              <a:t>One sentence on what this section answers.</a:t>
            </a:r>
          </a:p>
        </p:txBody>
      </p:sp>
      <p:pic>
        <p:nvPicPr>
          <p:cNvPr id="25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26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A9BFA9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4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04 Executive summary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Executive summary</a:t>
            </a:r>
          </a:p>
        </p:txBody>
      </p:sp>
      <p:sp>
        <p:nvSpPr>
          <p:cNvPr id="28" name="Title 28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The single most important conclusion, in one sentence</a:t>
            </a:r>
          </a:p>
        </p:txBody>
      </p:sp>
      <p:sp>
        <p:nvSpPr>
          <p:cNvPr id="29" name="Body 29"/>
          <p:cNvSpPr>
            <a:spLocks noGrp="1"/>
          </p:cNvSpPr>
          <p:nvPr>
            <p:ph type="body" idx="1"/>
          </p:nvPr>
        </p:nvSpPr>
        <p:spPr>
          <a:xfrm>
            <a:off x="685800" y="2148840"/>
            <a:ext cx="4937760" cy="35661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20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Two or three sentences that a reader could act on if they read nothing else.</a:t>
            </a:r>
          </a:p>
        </p:txBody>
      </p:sp>
      <p:sp>
        <p:nvSpPr>
          <p:cNvPr id="30" name="Brand shape"/>
          <p:cNvSpPr/>
          <p:nvPr userDrawn="1"/>
        </p:nvSpPr>
        <p:spPr>
          <a:xfrm>
            <a:off x="6263640" y="2194560"/>
            <a:ext cx="5239512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Point number"/>
          <p:cNvSpPr>
            <a:spLocks noGrp="1"/>
          </p:cNvSpPr>
          <p:nvPr>
            <p:ph type="body" idx="21"/>
          </p:nvPr>
        </p:nvSpPr>
        <p:spPr>
          <a:xfrm>
            <a:off x="6263640" y="2331720"/>
            <a:ext cx="45720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2200" b="0" i="0" spc="0">
                <a:solidFill>
                  <a:srgbClr val="8A5A0C"/>
                </a:solidFill>
                <a:latin typeface="+mj-lt"/>
              </a:defRPr>
            </a:lvl1pPr>
          </a:lstStyle>
          <a:p>
            <a:pPr algn="l"/>
            <a:r>
              <a:rPr lang="en-GB"/>
              <a:t>1</a:t>
            </a:r>
          </a:p>
        </p:txBody>
      </p:sp>
      <p:sp>
        <p:nvSpPr>
          <p:cNvPr id="32" name="Body 32"/>
          <p:cNvSpPr>
            <a:spLocks noGrp="1"/>
          </p:cNvSpPr>
          <p:nvPr>
            <p:ph type="body" idx="22"/>
          </p:nvPr>
        </p:nvSpPr>
        <p:spPr>
          <a:xfrm>
            <a:off x="6812280" y="2377440"/>
            <a:ext cx="4663440" cy="8229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3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First supporting point with its evidence.</a:t>
            </a:r>
          </a:p>
        </p:txBody>
      </p:sp>
      <p:sp>
        <p:nvSpPr>
          <p:cNvPr id="33" name="Brand shape"/>
          <p:cNvSpPr/>
          <p:nvPr userDrawn="1"/>
        </p:nvSpPr>
        <p:spPr>
          <a:xfrm>
            <a:off x="6263640" y="3429000"/>
            <a:ext cx="5239512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4" name="Point number"/>
          <p:cNvSpPr>
            <a:spLocks noGrp="1"/>
          </p:cNvSpPr>
          <p:nvPr>
            <p:ph type="body" idx="23"/>
          </p:nvPr>
        </p:nvSpPr>
        <p:spPr>
          <a:xfrm>
            <a:off x="6263640" y="3566160"/>
            <a:ext cx="45720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2200" b="0" i="0" spc="0">
                <a:solidFill>
                  <a:srgbClr val="8A5A0C"/>
                </a:solidFill>
                <a:latin typeface="+mj-lt"/>
              </a:defRPr>
            </a:lvl1pPr>
          </a:lstStyle>
          <a:p>
            <a:pPr algn="l"/>
            <a:r>
              <a:rPr lang="en-GB"/>
              <a:t>2</a:t>
            </a:r>
          </a:p>
        </p:txBody>
      </p:sp>
      <p:sp>
        <p:nvSpPr>
          <p:cNvPr id="35" name="Body 35"/>
          <p:cNvSpPr>
            <a:spLocks noGrp="1"/>
          </p:cNvSpPr>
          <p:nvPr>
            <p:ph type="body" idx="24"/>
          </p:nvPr>
        </p:nvSpPr>
        <p:spPr>
          <a:xfrm>
            <a:off x="6812280" y="3611880"/>
            <a:ext cx="4663440" cy="8229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3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Second supporting point with its evidence.</a:t>
            </a:r>
          </a:p>
        </p:txBody>
      </p:sp>
      <p:sp>
        <p:nvSpPr>
          <p:cNvPr id="36" name="Brand shape"/>
          <p:cNvSpPr/>
          <p:nvPr userDrawn="1"/>
        </p:nvSpPr>
        <p:spPr>
          <a:xfrm>
            <a:off x="6263640" y="4663440"/>
            <a:ext cx="5239512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7" name="Point number"/>
          <p:cNvSpPr>
            <a:spLocks noGrp="1"/>
          </p:cNvSpPr>
          <p:nvPr>
            <p:ph type="body" idx="25"/>
          </p:nvPr>
        </p:nvSpPr>
        <p:spPr>
          <a:xfrm>
            <a:off x="6263640" y="4800600"/>
            <a:ext cx="45720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2200" b="0" i="0" spc="0">
                <a:solidFill>
                  <a:srgbClr val="8A5A0C"/>
                </a:solidFill>
                <a:latin typeface="+mj-lt"/>
              </a:defRPr>
            </a:lvl1pPr>
          </a:lstStyle>
          <a:p>
            <a:pPr algn="l"/>
            <a:r>
              <a:rPr lang="en-GB"/>
              <a:t>3</a:t>
            </a:r>
          </a:p>
        </p:txBody>
      </p:sp>
      <p:sp>
        <p:nvSpPr>
          <p:cNvPr id="38" name="Body 38"/>
          <p:cNvSpPr>
            <a:spLocks noGrp="1"/>
          </p:cNvSpPr>
          <p:nvPr>
            <p:ph type="body" idx="26"/>
          </p:nvPr>
        </p:nvSpPr>
        <p:spPr>
          <a:xfrm>
            <a:off x="6812280" y="4846320"/>
            <a:ext cx="4663440" cy="8229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3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Third supporting point with its evidence.</a:t>
            </a:r>
          </a:p>
        </p:txBody>
      </p:sp>
      <p:pic>
        <p:nvPicPr>
          <p:cNvPr id="39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40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5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05 Title and content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Section</a:t>
            </a:r>
          </a:p>
        </p:txBody>
      </p:sp>
      <p:sp>
        <p:nvSpPr>
          <p:cNvPr id="42" name="Title 42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Write the slide's conclusion as its title</a:t>
            </a:r>
          </a:p>
        </p:txBody>
      </p:sp>
      <p:sp>
        <p:nvSpPr>
          <p:cNvPr id="43" name="Body 43"/>
          <p:cNvSpPr>
            <a:spLocks noGrp="1"/>
          </p:cNvSpPr>
          <p:nvPr>
            <p:ph type="body" idx="1"/>
          </p:nvPr>
        </p:nvSpPr>
        <p:spPr>
          <a:xfrm>
            <a:off x="685800" y="2103120"/>
            <a:ext cx="7498079" cy="3749039"/>
          </a:xfrm>
        </p:spPr>
        <p:txBody>
          <a:bodyPr lIns="0" tIns="0" rIns="0" bIns="0" anchor="t">
            <a:normAutofit/>
          </a:bodyPr>
          <a:lstStyle>
            <a:lvl1pPr algn="l" marL="228600" indent="-228600">
              <a:lnSpc>
                <a:spcPct val="112000"/>
              </a:lnSpc>
              <a:spcBef>
                <a:spcPts val="600"/>
              </a:spcBef>
              <a:buClr>
                <a:srgbClr val="103428"/>
              </a:buClr>
              <a:buFont typeface="Public Sans"/>
              <a:buChar char="•"/>
              <a:defRPr sz="16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Text. Keep to one idea per slide.</a:t>
            </a:r>
          </a:p>
        </p:txBody>
      </p:sp>
      <p:pic>
        <p:nvPicPr>
          <p:cNvPr id="44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45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6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06 Two columns: strategy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Strategy</a:t>
            </a:r>
          </a:p>
        </p:txBody>
      </p:sp>
      <p:sp>
        <p:nvSpPr>
          <p:cNvPr id="47" name="Title 47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Write the slide's conclusion as its title</a:t>
            </a:r>
          </a:p>
        </p:txBody>
      </p:sp>
      <p:sp>
        <p:nvSpPr>
          <p:cNvPr id="48" name="Brand shape"/>
          <p:cNvSpPr/>
          <p:nvPr userDrawn="1"/>
        </p:nvSpPr>
        <p:spPr>
          <a:xfrm>
            <a:off x="685800" y="2103120"/>
            <a:ext cx="512064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9" name="Body 49"/>
          <p:cNvSpPr>
            <a:spLocks noGrp="1"/>
          </p:cNvSpPr>
          <p:nvPr>
            <p:ph type="body" idx="21"/>
          </p:nvPr>
        </p:nvSpPr>
        <p:spPr>
          <a:xfrm>
            <a:off x="685800" y="2240280"/>
            <a:ext cx="512064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500" b="1" i="0" spc="0">
                <a:solidFill>
                  <a:srgbClr val="103428"/>
                </a:solidFill>
                <a:latin typeface="+mn-lt"/>
              </a:defRPr>
            </a:lvl1pPr>
          </a:lstStyle>
          <a:p>
            <a:pPr algn="l"/>
            <a:r>
              <a:rPr lang="en-GB"/>
              <a:t>First pillar</a:t>
            </a:r>
          </a:p>
        </p:txBody>
      </p:sp>
      <p:sp>
        <p:nvSpPr>
          <p:cNvPr id="50" name="Body 50"/>
          <p:cNvSpPr>
            <a:spLocks noGrp="1"/>
          </p:cNvSpPr>
          <p:nvPr>
            <p:ph type="body" idx="1"/>
          </p:nvPr>
        </p:nvSpPr>
        <p:spPr>
          <a:xfrm>
            <a:off x="685800" y="2697480"/>
            <a:ext cx="5120640" cy="3108960"/>
          </a:xfrm>
        </p:spPr>
        <p:txBody>
          <a:bodyPr lIns="0" tIns="0" rIns="0" bIns="0" anchor="t">
            <a:normAutofit/>
          </a:bodyPr>
          <a:lstStyle>
            <a:lvl1pPr algn="l" marL="228600" indent="-228600">
              <a:lnSpc>
                <a:spcPct val="112000"/>
              </a:lnSpc>
              <a:spcBef>
                <a:spcPts val="600"/>
              </a:spcBef>
              <a:buClr>
                <a:srgbClr val="103428"/>
              </a:buClr>
              <a:buFont typeface="Public Sans"/>
              <a:buChar char="•"/>
              <a:defRPr sz="14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What it means and what we will do.</a:t>
            </a:r>
          </a:p>
        </p:txBody>
      </p:sp>
      <p:sp>
        <p:nvSpPr>
          <p:cNvPr id="51" name="Brand shape"/>
          <p:cNvSpPr/>
          <p:nvPr userDrawn="1"/>
        </p:nvSpPr>
        <p:spPr>
          <a:xfrm>
            <a:off x="6382512" y="2103120"/>
            <a:ext cx="512064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2" name="Body 52"/>
          <p:cNvSpPr>
            <a:spLocks noGrp="1"/>
          </p:cNvSpPr>
          <p:nvPr>
            <p:ph type="body" idx="22"/>
          </p:nvPr>
        </p:nvSpPr>
        <p:spPr>
          <a:xfrm>
            <a:off x="6382512" y="2240280"/>
            <a:ext cx="512064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500" b="1" i="0" spc="0">
                <a:solidFill>
                  <a:srgbClr val="103428"/>
                </a:solidFill>
                <a:latin typeface="+mn-lt"/>
              </a:defRPr>
            </a:lvl1pPr>
          </a:lstStyle>
          <a:p>
            <a:pPr algn="l"/>
            <a:r>
              <a:rPr lang="en-GB"/>
              <a:t>Second pillar</a:t>
            </a:r>
          </a:p>
        </p:txBody>
      </p:sp>
      <p:sp>
        <p:nvSpPr>
          <p:cNvPr id="53" name="Body 53"/>
          <p:cNvSpPr>
            <a:spLocks noGrp="1"/>
          </p:cNvSpPr>
          <p:nvPr>
            <p:ph type="body" idx="2"/>
          </p:nvPr>
        </p:nvSpPr>
        <p:spPr>
          <a:xfrm>
            <a:off x="6382512" y="2697480"/>
            <a:ext cx="5120640" cy="3108960"/>
          </a:xfrm>
        </p:spPr>
        <p:txBody>
          <a:bodyPr lIns="0" tIns="0" rIns="0" bIns="0" anchor="t">
            <a:normAutofit/>
          </a:bodyPr>
          <a:lstStyle>
            <a:lvl1pPr algn="l" marL="228600" indent="-228600">
              <a:lnSpc>
                <a:spcPct val="112000"/>
              </a:lnSpc>
              <a:spcBef>
                <a:spcPts val="600"/>
              </a:spcBef>
              <a:buClr>
                <a:srgbClr val="103428"/>
              </a:buClr>
              <a:buFont typeface="Public Sans"/>
              <a:buChar char="•"/>
              <a:defRPr sz="14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What it means and what we will do.</a:t>
            </a:r>
          </a:p>
        </p:txBody>
      </p:sp>
      <p:pic>
        <p:nvPicPr>
          <p:cNvPr id="54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55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7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07 Research finding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Finding</a:t>
            </a:r>
          </a:p>
        </p:txBody>
      </p:sp>
      <p:sp>
        <p:nvSpPr>
          <p:cNvPr id="57" name="Title 57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State the finding as the title</a:t>
            </a:r>
          </a:p>
        </p:txBody>
      </p:sp>
      <p:sp>
        <p:nvSpPr>
          <p:cNvPr id="58" name="Chart 58"/>
          <p:cNvSpPr>
            <a:spLocks noGrp="1"/>
          </p:cNvSpPr>
          <p:nvPr>
            <p:ph type="chart" idx="13"/>
          </p:nvPr>
        </p:nvSpPr>
        <p:spPr>
          <a:xfrm>
            <a:off x="685800" y="2103120"/>
            <a:ext cx="6766560" cy="37033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6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Insert chart or image</a:t>
            </a:r>
          </a:p>
        </p:txBody>
      </p:sp>
      <p:sp>
        <p:nvSpPr>
          <p:cNvPr id="59" name="Brand shape"/>
          <p:cNvSpPr/>
          <p:nvPr userDrawn="1"/>
        </p:nvSpPr>
        <p:spPr>
          <a:xfrm>
            <a:off x="8001000" y="2103120"/>
            <a:ext cx="3502152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0" name="Body 60"/>
          <p:cNvSpPr>
            <a:spLocks noGrp="1"/>
          </p:cNvSpPr>
          <p:nvPr>
            <p:ph type="body" idx="21"/>
          </p:nvPr>
        </p:nvSpPr>
        <p:spPr>
          <a:xfrm>
            <a:off x="8001000" y="2240280"/>
            <a:ext cx="3502152" cy="320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What the data shows</a:t>
            </a:r>
          </a:p>
        </p:txBody>
      </p:sp>
      <p:sp>
        <p:nvSpPr>
          <p:cNvPr id="61" name="Body 61"/>
          <p:cNvSpPr>
            <a:spLocks noGrp="1"/>
          </p:cNvSpPr>
          <p:nvPr>
            <p:ph type="body" idx="1"/>
          </p:nvPr>
        </p:nvSpPr>
        <p:spPr>
          <a:xfrm>
            <a:off x="8001000" y="2651760"/>
            <a:ext cx="3502152" cy="30175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3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Two or three sentences of interpretation. Note sample size and method.</a:t>
            </a:r>
          </a:p>
        </p:txBody>
      </p:sp>
      <p:sp>
        <p:nvSpPr>
          <p:cNvPr id="62" name="Source"/>
          <p:cNvSpPr>
            <a:spLocks noGrp="1"/>
          </p:cNvSpPr>
          <p:nvPr>
            <p:ph type="body" idx="30"/>
          </p:nvPr>
        </p:nvSpPr>
        <p:spPr>
          <a:xfrm>
            <a:off x="685800" y="5989320"/>
            <a:ext cx="7772400" cy="2286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9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Source: [publisher, title, year]</a:t>
            </a:r>
          </a:p>
        </p:txBody>
      </p:sp>
      <p:pic>
        <p:nvPicPr>
          <p:cNvPr id="63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64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8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08 Data: full-width chart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Data</a:t>
            </a:r>
          </a:p>
        </p:txBody>
      </p:sp>
      <p:sp>
        <p:nvSpPr>
          <p:cNvPr id="66" name="Title 66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Say what the chart proves</a:t>
            </a:r>
          </a:p>
        </p:txBody>
      </p:sp>
      <p:sp>
        <p:nvSpPr>
          <p:cNvPr id="67" name="Chart 67"/>
          <p:cNvSpPr>
            <a:spLocks noGrp="1"/>
          </p:cNvSpPr>
          <p:nvPr>
            <p:ph type="chart" idx="13"/>
          </p:nvPr>
        </p:nvSpPr>
        <p:spPr>
          <a:xfrm>
            <a:off x="685800" y="2057400"/>
            <a:ext cx="10820095" cy="3749039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6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Insert chart</a:t>
            </a:r>
          </a:p>
        </p:txBody>
      </p:sp>
      <p:sp>
        <p:nvSpPr>
          <p:cNvPr id="68" name="Source"/>
          <p:cNvSpPr>
            <a:spLocks noGrp="1"/>
          </p:cNvSpPr>
          <p:nvPr>
            <p:ph type="body" idx="30"/>
          </p:nvPr>
        </p:nvSpPr>
        <p:spPr>
          <a:xfrm>
            <a:off x="685800" y="5989320"/>
            <a:ext cx="7772400" cy="2286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9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Source: [publisher, title, year]</a:t>
            </a:r>
          </a:p>
        </p:txBody>
      </p:sp>
      <p:pic>
        <p:nvPicPr>
          <p:cNvPr id="69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70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9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09 Key figures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In figures</a:t>
            </a:r>
          </a:p>
        </p:txBody>
      </p:sp>
      <p:sp>
        <p:nvSpPr>
          <p:cNvPr id="72" name="Title 72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What these figures mean together</a:t>
            </a:r>
          </a:p>
        </p:txBody>
      </p:sp>
      <p:sp>
        <p:nvSpPr>
          <p:cNvPr id="73" name="Brand shape"/>
          <p:cNvSpPr/>
          <p:nvPr userDrawn="1"/>
        </p:nvSpPr>
        <p:spPr>
          <a:xfrm>
            <a:off x="685800" y="2377440"/>
            <a:ext cx="329184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4" name="Figure"/>
          <p:cNvSpPr>
            <a:spLocks noGrp="1"/>
          </p:cNvSpPr>
          <p:nvPr>
            <p:ph type="body" idx="21"/>
          </p:nvPr>
        </p:nvSpPr>
        <p:spPr>
          <a:xfrm>
            <a:off x="685800" y="2514600"/>
            <a:ext cx="3291840" cy="11887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60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000</a:t>
            </a:r>
          </a:p>
        </p:txBody>
      </p:sp>
      <p:sp>
        <p:nvSpPr>
          <p:cNvPr id="75" name="Body 75"/>
          <p:cNvSpPr>
            <a:spLocks noGrp="1"/>
          </p:cNvSpPr>
          <p:nvPr>
            <p:ph type="body" idx="24"/>
          </p:nvPr>
        </p:nvSpPr>
        <p:spPr>
          <a:xfrm>
            <a:off x="685800" y="3749039"/>
            <a:ext cx="329184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300" b="1" i="0" spc="0">
                <a:solidFill>
                  <a:srgbClr val="103428"/>
                </a:solidFill>
                <a:latin typeface="+mn-lt"/>
              </a:defRPr>
            </a:lvl1pPr>
          </a:lstStyle>
          <a:p>
            <a:pPr algn="l"/>
            <a:r>
              <a:rPr lang="en-GB"/>
              <a:t>Unit or label</a:t>
            </a:r>
          </a:p>
        </p:txBody>
      </p:sp>
      <p:sp>
        <p:nvSpPr>
          <p:cNvPr id="76" name="Body 76"/>
          <p:cNvSpPr>
            <a:spLocks noGrp="1"/>
          </p:cNvSpPr>
          <p:nvPr>
            <p:ph type="body" idx="27"/>
          </p:nvPr>
        </p:nvSpPr>
        <p:spPr>
          <a:xfrm>
            <a:off x="685800" y="4160520"/>
            <a:ext cx="3108960" cy="9144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One line of context and the period it covers.</a:t>
            </a:r>
          </a:p>
        </p:txBody>
      </p:sp>
      <p:sp>
        <p:nvSpPr>
          <p:cNvPr id="77" name="Brand shape"/>
          <p:cNvSpPr/>
          <p:nvPr userDrawn="1"/>
        </p:nvSpPr>
        <p:spPr>
          <a:xfrm>
            <a:off x="4343400" y="2377440"/>
            <a:ext cx="329184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8" name="Figure"/>
          <p:cNvSpPr>
            <a:spLocks noGrp="1"/>
          </p:cNvSpPr>
          <p:nvPr>
            <p:ph type="body" idx="22"/>
          </p:nvPr>
        </p:nvSpPr>
        <p:spPr>
          <a:xfrm>
            <a:off x="4343400" y="2514600"/>
            <a:ext cx="3291840" cy="11887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60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000</a:t>
            </a:r>
          </a:p>
        </p:txBody>
      </p:sp>
      <p:sp>
        <p:nvSpPr>
          <p:cNvPr id="79" name="Body 79"/>
          <p:cNvSpPr>
            <a:spLocks noGrp="1"/>
          </p:cNvSpPr>
          <p:nvPr>
            <p:ph type="body" idx="25"/>
          </p:nvPr>
        </p:nvSpPr>
        <p:spPr>
          <a:xfrm>
            <a:off x="4343400" y="3749039"/>
            <a:ext cx="329184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300" b="1" i="0" spc="0">
                <a:solidFill>
                  <a:srgbClr val="103428"/>
                </a:solidFill>
                <a:latin typeface="+mn-lt"/>
              </a:defRPr>
            </a:lvl1pPr>
          </a:lstStyle>
          <a:p>
            <a:pPr algn="l"/>
            <a:r>
              <a:rPr lang="en-GB"/>
              <a:t>Unit or label</a:t>
            </a:r>
          </a:p>
        </p:txBody>
      </p:sp>
      <p:sp>
        <p:nvSpPr>
          <p:cNvPr id="80" name="Body 80"/>
          <p:cNvSpPr>
            <a:spLocks noGrp="1"/>
          </p:cNvSpPr>
          <p:nvPr>
            <p:ph type="body" idx="28"/>
          </p:nvPr>
        </p:nvSpPr>
        <p:spPr>
          <a:xfrm>
            <a:off x="4343400" y="4160520"/>
            <a:ext cx="3108960" cy="9144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One line of context and the period it covers.</a:t>
            </a:r>
          </a:p>
        </p:txBody>
      </p:sp>
      <p:sp>
        <p:nvSpPr>
          <p:cNvPr id="81" name="Brand shape"/>
          <p:cNvSpPr/>
          <p:nvPr userDrawn="1"/>
        </p:nvSpPr>
        <p:spPr>
          <a:xfrm>
            <a:off x="8001000" y="2377440"/>
            <a:ext cx="329184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2" name="Figure"/>
          <p:cNvSpPr>
            <a:spLocks noGrp="1"/>
          </p:cNvSpPr>
          <p:nvPr>
            <p:ph type="body" idx="23"/>
          </p:nvPr>
        </p:nvSpPr>
        <p:spPr>
          <a:xfrm>
            <a:off x="8001000" y="2514600"/>
            <a:ext cx="3291840" cy="11887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60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000</a:t>
            </a:r>
          </a:p>
        </p:txBody>
      </p:sp>
      <p:sp>
        <p:nvSpPr>
          <p:cNvPr id="83" name="Body 83"/>
          <p:cNvSpPr>
            <a:spLocks noGrp="1"/>
          </p:cNvSpPr>
          <p:nvPr>
            <p:ph type="body" idx="26"/>
          </p:nvPr>
        </p:nvSpPr>
        <p:spPr>
          <a:xfrm>
            <a:off x="8001000" y="3749039"/>
            <a:ext cx="329184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300" b="1" i="0" spc="0">
                <a:solidFill>
                  <a:srgbClr val="103428"/>
                </a:solidFill>
                <a:latin typeface="+mn-lt"/>
              </a:defRPr>
            </a:lvl1pPr>
          </a:lstStyle>
          <a:p>
            <a:pPr algn="l"/>
            <a:r>
              <a:rPr lang="en-GB"/>
              <a:t>Unit or label</a:t>
            </a:r>
          </a:p>
        </p:txBody>
      </p:sp>
      <p:sp>
        <p:nvSpPr>
          <p:cNvPr id="84" name="Body 84"/>
          <p:cNvSpPr>
            <a:spLocks noGrp="1"/>
          </p:cNvSpPr>
          <p:nvPr>
            <p:ph type="body" idx="29"/>
          </p:nvPr>
        </p:nvSpPr>
        <p:spPr>
          <a:xfrm>
            <a:off x="8001000" y="4160520"/>
            <a:ext cx="3108960" cy="9144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One line of context and the period it covers.</a:t>
            </a:r>
          </a:p>
        </p:txBody>
      </p:sp>
      <p:sp>
        <p:nvSpPr>
          <p:cNvPr id="85" name="Source"/>
          <p:cNvSpPr>
            <a:spLocks noGrp="1"/>
          </p:cNvSpPr>
          <p:nvPr>
            <p:ph type="body" idx="30"/>
          </p:nvPr>
        </p:nvSpPr>
        <p:spPr>
          <a:xfrm>
            <a:off x="685800" y="5989320"/>
            <a:ext cx="7772400" cy="2286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9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Source: [publisher, title, year]</a:t>
            </a:r>
          </a:p>
        </p:txBody>
      </p:sp>
      <p:pic>
        <p:nvPicPr>
          <p:cNvPr id="86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87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0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10 Timeline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Timeline</a:t>
            </a:r>
          </a:p>
        </p:txBody>
      </p:sp>
      <p:sp>
        <p:nvSpPr>
          <p:cNvPr id="89" name="Title 89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What happens, and when</a:t>
            </a:r>
          </a:p>
        </p:txBody>
      </p:sp>
      <p:sp>
        <p:nvSpPr>
          <p:cNvPr id="90" name="Brand shape"/>
          <p:cNvSpPr/>
          <p:nvPr userDrawn="1"/>
        </p:nvSpPr>
        <p:spPr>
          <a:xfrm>
            <a:off x="685800" y="3063240"/>
            <a:ext cx="10820095" cy="18288"/>
          </a:xfrm>
          <a:prstGeom prst="rect">
            <a:avLst/>
          </a:prstGeom>
          <a:solidFill>
            <a:srgbClr val="10342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1" name="Brand shape"/>
          <p:cNvSpPr/>
          <p:nvPr userDrawn="1"/>
        </p:nvSpPr>
        <p:spPr>
          <a:xfrm>
            <a:off x="685800" y="2971800"/>
            <a:ext cx="182880" cy="182880"/>
          </a:xfrm>
          <a:prstGeom prst="ellipse">
            <a:avLst/>
          </a:prstGeom>
          <a:solidFill>
            <a:srgbClr val="10342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2" name="Date"/>
          <p:cNvSpPr>
            <a:spLocks noGrp="1"/>
          </p:cNvSpPr>
          <p:nvPr>
            <p:ph type="body" idx="21"/>
          </p:nvPr>
        </p:nvSpPr>
        <p:spPr>
          <a:xfrm>
            <a:off x="685800" y="2377440"/>
            <a:ext cx="201168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1" i="0" spc="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Q1 2027</a:t>
            </a:r>
          </a:p>
        </p:txBody>
      </p:sp>
      <p:sp>
        <p:nvSpPr>
          <p:cNvPr id="93" name="Milestone"/>
          <p:cNvSpPr>
            <a:spLocks noGrp="1"/>
          </p:cNvSpPr>
          <p:nvPr>
            <p:ph type="body" idx="31"/>
          </p:nvPr>
        </p:nvSpPr>
        <p:spPr>
          <a:xfrm>
            <a:off x="685800" y="3429000"/>
            <a:ext cx="2011680" cy="4114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18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Milestone</a:t>
            </a:r>
          </a:p>
        </p:txBody>
      </p:sp>
      <p:sp>
        <p:nvSpPr>
          <p:cNvPr id="94" name="Detail"/>
          <p:cNvSpPr>
            <a:spLocks noGrp="1"/>
          </p:cNvSpPr>
          <p:nvPr>
            <p:ph type="body" idx="41"/>
          </p:nvPr>
        </p:nvSpPr>
        <p:spPr>
          <a:xfrm>
            <a:off x="685800" y="3931920"/>
            <a:ext cx="1965960" cy="1463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What is delivered and by whom.</a:t>
            </a:r>
          </a:p>
        </p:txBody>
      </p:sp>
      <p:sp>
        <p:nvSpPr>
          <p:cNvPr id="95" name="Brand shape"/>
          <p:cNvSpPr/>
          <p:nvPr userDrawn="1"/>
        </p:nvSpPr>
        <p:spPr>
          <a:xfrm>
            <a:off x="2880360" y="2971800"/>
            <a:ext cx="182880" cy="182880"/>
          </a:xfrm>
          <a:prstGeom prst="ellipse">
            <a:avLst/>
          </a:prstGeom>
          <a:solidFill>
            <a:srgbClr val="10342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6" name="Date"/>
          <p:cNvSpPr>
            <a:spLocks noGrp="1"/>
          </p:cNvSpPr>
          <p:nvPr>
            <p:ph type="body" idx="22"/>
          </p:nvPr>
        </p:nvSpPr>
        <p:spPr>
          <a:xfrm>
            <a:off x="2880360" y="2377440"/>
            <a:ext cx="201168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1" i="0" spc="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Q1 2027</a:t>
            </a:r>
          </a:p>
        </p:txBody>
      </p:sp>
      <p:sp>
        <p:nvSpPr>
          <p:cNvPr id="97" name="Milestone"/>
          <p:cNvSpPr>
            <a:spLocks noGrp="1"/>
          </p:cNvSpPr>
          <p:nvPr>
            <p:ph type="body" idx="32"/>
          </p:nvPr>
        </p:nvSpPr>
        <p:spPr>
          <a:xfrm>
            <a:off x="2880360" y="3429000"/>
            <a:ext cx="2011680" cy="4114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18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Milestone</a:t>
            </a:r>
          </a:p>
        </p:txBody>
      </p:sp>
      <p:sp>
        <p:nvSpPr>
          <p:cNvPr id="98" name="Detail"/>
          <p:cNvSpPr>
            <a:spLocks noGrp="1"/>
          </p:cNvSpPr>
          <p:nvPr>
            <p:ph type="body" idx="42"/>
          </p:nvPr>
        </p:nvSpPr>
        <p:spPr>
          <a:xfrm>
            <a:off x="2880360" y="3931920"/>
            <a:ext cx="1965960" cy="1463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What is delivered and by whom.</a:t>
            </a:r>
          </a:p>
        </p:txBody>
      </p:sp>
      <p:sp>
        <p:nvSpPr>
          <p:cNvPr id="99" name="Brand shape"/>
          <p:cNvSpPr/>
          <p:nvPr userDrawn="1"/>
        </p:nvSpPr>
        <p:spPr>
          <a:xfrm>
            <a:off x="5074920" y="2971800"/>
            <a:ext cx="182880" cy="182880"/>
          </a:xfrm>
          <a:prstGeom prst="ellipse">
            <a:avLst/>
          </a:prstGeom>
          <a:solidFill>
            <a:srgbClr val="10342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0" name="Date"/>
          <p:cNvSpPr>
            <a:spLocks noGrp="1"/>
          </p:cNvSpPr>
          <p:nvPr>
            <p:ph type="body" idx="23"/>
          </p:nvPr>
        </p:nvSpPr>
        <p:spPr>
          <a:xfrm>
            <a:off x="5074920" y="2377440"/>
            <a:ext cx="201168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1" i="0" spc="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Q1 2027</a:t>
            </a:r>
          </a:p>
        </p:txBody>
      </p:sp>
      <p:sp>
        <p:nvSpPr>
          <p:cNvPr id="101" name="Milestone"/>
          <p:cNvSpPr>
            <a:spLocks noGrp="1"/>
          </p:cNvSpPr>
          <p:nvPr>
            <p:ph type="body" idx="33"/>
          </p:nvPr>
        </p:nvSpPr>
        <p:spPr>
          <a:xfrm>
            <a:off x="5074920" y="3429000"/>
            <a:ext cx="2011680" cy="4114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18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Milestone</a:t>
            </a:r>
          </a:p>
        </p:txBody>
      </p:sp>
      <p:sp>
        <p:nvSpPr>
          <p:cNvPr id="102" name="Detail"/>
          <p:cNvSpPr>
            <a:spLocks noGrp="1"/>
          </p:cNvSpPr>
          <p:nvPr>
            <p:ph type="body" idx="43"/>
          </p:nvPr>
        </p:nvSpPr>
        <p:spPr>
          <a:xfrm>
            <a:off x="5074920" y="3931920"/>
            <a:ext cx="1965960" cy="1463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What is delivered and by whom.</a:t>
            </a:r>
          </a:p>
        </p:txBody>
      </p:sp>
      <p:sp>
        <p:nvSpPr>
          <p:cNvPr id="103" name="Brand shape"/>
          <p:cNvSpPr/>
          <p:nvPr userDrawn="1"/>
        </p:nvSpPr>
        <p:spPr>
          <a:xfrm>
            <a:off x="7269479" y="2971800"/>
            <a:ext cx="182880" cy="182880"/>
          </a:xfrm>
          <a:prstGeom prst="ellipse">
            <a:avLst/>
          </a:prstGeom>
          <a:solidFill>
            <a:srgbClr val="10342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" name="Date"/>
          <p:cNvSpPr>
            <a:spLocks noGrp="1"/>
          </p:cNvSpPr>
          <p:nvPr>
            <p:ph type="body" idx="24"/>
          </p:nvPr>
        </p:nvSpPr>
        <p:spPr>
          <a:xfrm>
            <a:off x="7269479" y="2377440"/>
            <a:ext cx="201168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1" i="0" spc="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Q1 2027</a:t>
            </a:r>
          </a:p>
        </p:txBody>
      </p:sp>
      <p:sp>
        <p:nvSpPr>
          <p:cNvPr id="105" name="Milestone"/>
          <p:cNvSpPr>
            <a:spLocks noGrp="1"/>
          </p:cNvSpPr>
          <p:nvPr>
            <p:ph type="body" idx="34"/>
          </p:nvPr>
        </p:nvSpPr>
        <p:spPr>
          <a:xfrm>
            <a:off x="7269479" y="3429000"/>
            <a:ext cx="2011680" cy="4114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18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Milestone</a:t>
            </a:r>
          </a:p>
        </p:txBody>
      </p:sp>
      <p:sp>
        <p:nvSpPr>
          <p:cNvPr id="106" name="Detail"/>
          <p:cNvSpPr>
            <a:spLocks noGrp="1"/>
          </p:cNvSpPr>
          <p:nvPr>
            <p:ph type="body" idx="44"/>
          </p:nvPr>
        </p:nvSpPr>
        <p:spPr>
          <a:xfrm>
            <a:off x="7269479" y="3931920"/>
            <a:ext cx="1965960" cy="1463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What is delivered and by whom.</a:t>
            </a:r>
          </a:p>
        </p:txBody>
      </p:sp>
      <p:sp>
        <p:nvSpPr>
          <p:cNvPr id="107" name="Brand shape"/>
          <p:cNvSpPr/>
          <p:nvPr userDrawn="1"/>
        </p:nvSpPr>
        <p:spPr>
          <a:xfrm>
            <a:off x="9464040" y="2971800"/>
            <a:ext cx="182880" cy="182880"/>
          </a:xfrm>
          <a:prstGeom prst="ellipse">
            <a:avLst/>
          </a:prstGeom>
          <a:solidFill>
            <a:srgbClr val="10342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8" name="Date"/>
          <p:cNvSpPr>
            <a:spLocks noGrp="1"/>
          </p:cNvSpPr>
          <p:nvPr>
            <p:ph type="body" idx="25"/>
          </p:nvPr>
        </p:nvSpPr>
        <p:spPr>
          <a:xfrm>
            <a:off x="9464040" y="2377440"/>
            <a:ext cx="2011680" cy="3657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1" i="0" spc="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Q1 2027</a:t>
            </a:r>
          </a:p>
        </p:txBody>
      </p:sp>
      <p:sp>
        <p:nvSpPr>
          <p:cNvPr id="109" name="Milestone"/>
          <p:cNvSpPr>
            <a:spLocks noGrp="1"/>
          </p:cNvSpPr>
          <p:nvPr>
            <p:ph type="body" idx="35"/>
          </p:nvPr>
        </p:nvSpPr>
        <p:spPr>
          <a:xfrm>
            <a:off x="9464040" y="3429000"/>
            <a:ext cx="2011680" cy="4114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18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Milestone</a:t>
            </a:r>
          </a:p>
        </p:txBody>
      </p:sp>
      <p:sp>
        <p:nvSpPr>
          <p:cNvPr id="110" name="Detail"/>
          <p:cNvSpPr>
            <a:spLocks noGrp="1"/>
          </p:cNvSpPr>
          <p:nvPr>
            <p:ph type="body" idx="45"/>
          </p:nvPr>
        </p:nvSpPr>
        <p:spPr>
          <a:xfrm>
            <a:off x="9464040" y="3931920"/>
            <a:ext cx="1965960" cy="1463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What is delivered and by whom.</a:t>
            </a:r>
          </a:p>
        </p:txBody>
      </p:sp>
      <p:pic>
        <p:nvPicPr>
          <p:cNvPr id="111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112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11 Investment opportunity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ic 113"/>
          <p:cNvSpPr>
            <a:spLocks noGrp="1"/>
          </p:cNvSpPr>
          <p:nvPr>
            <p:ph type="pic" idx="13"/>
          </p:nvPr>
        </p:nvSpPr>
        <p:spPr>
          <a:xfrm>
            <a:off x="0" y="0"/>
            <a:ext cx="4754880" cy="6858000"/>
          </a:xfrm>
          <a:solidFill>
            <a:srgbClr val="E7DFCF"/>
          </a:solidFill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6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Insert a photograph of the site</a:t>
            </a:r>
          </a:p>
        </p:txBody>
      </p:sp>
      <p:sp>
        <p:nvSpPr>
          <p:cNvPr id="114" name="Photo caption"/>
          <p:cNvSpPr>
            <a:spLocks noGrp="1"/>
          </p:cNvSpPr>
          <p:nvPr>
            <p:ph type="body" idx="31"/>
          </p:nvPr>
        </p:nvSpPr>
        <p:spPr>
          <a:xfrm>
            <a:off x="5120640" y="5989320"/>
            <a:ext cx="2743200" cy="2286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9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Place, State</a:t>
            </a:r>
          </a:p>
        </p:txBody>
      </p:sp>
      <p:sp>
        <p:nvSpPr>
          <p:cNvPr id="115" name="Label"/>
          <p:cNvSpPr>
            <a:spLocks noGrp="1"/>
          </p:cNvSpPr>
          <p:nvPr>
            <p:ph type="body" idx="20"/>
          </p:nvPr>
        </p:nvSpPr>
        <p:spPr>
          <a:xfrm>
            <a:off x="544068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Investment opportunity</a:t>
            </a:r>
          </a:p>
        </p:txBody>
      </p:sp>
      <p:sp>
        <p:nvSpPr>
          <p:cNvPr id="116" name="Title 116"/>
          <p:cNvSpPr>
            <a:spLocks noGrp="1"/>
          </p:cNvSpPr>
          <p:nvPr>
            <p:ph type="title"/>
          </p:nvPr>
        </p:nvSpPr>
        <p:spPr>
          <a:xfrm>
            <a:off x="5440680" y="868680"/>
            <a:ext cx="6035040" cy="10972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4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Project name</a:t>
            </a:r>
          </a:p>
        </p:txBody>
      </p:sp>
      <p:sp>
        <p:nvSpPr>
          <p:cNvPr id="117" name="Tbl 117"/>
          <p:cNvSpPr>
            <a:spLocks noGrp="1"/>
          </p:cNvSpPr>
          <p:nvPr>
            <p:ph type="tbl" idx="14"/>
          </p:nvPr>
        </p:nvSpPr>
        <p:spPr>
          <a:xfrm>
            <a:off x="5440680" y="2240280"/>
            <a:ext cx="6062472" cy="27432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6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Insert table: location, category, stage, size (₦ / US$), land status, contact</a:t>
            </a:r>
          </a:p>
        </p:txBody>
      </p:sp>
      <p:sp>
        <p:nvSpPr>
          <p:cNvPr id="118" name="Body 118"/>
          <p:cNvSpPr>
            <a:spLocks noGrp="1"/>
          </p:cNvSpPr>
          <p:nvPr>
            <p:ph type="body" idx="1"/>
          </p:nvPr>
        </p:nvSpPr>
        <p:spPr>
          <a:xfrm>
            <a:off x="5440680" y="5120640"/>
            <a:ext cx="6035040" cy="7315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Status of approvals and what the investor is asked to do next.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12 Partnership proposal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Partnership</a:t>
            </a:r>
          </a:p>
        </p:txBody>
      </p:sp>
      <p:sp>
        <p:nvSpPr>
          <p:cNvPr id="120" name="Title 120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What we propose to do together</a:t>
            </a:r>
          </a:p>
        </p:txBody>
      </p:sp>
      <p:sp>
        <p:nvSpPr>
          <p:cNvPr id="121" name="Brand shape"/>
          <p:cNvSpPr/>
          <p:nvPr userDrawn="1"/>
        </p:nvSpPr>
        <p:spPr>
          <a:xfrm>
            <a:off x="685800" y="2103120"/>
            <a:ext cx="338328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2" name="Body 122"/>
          <p:cNvSpPr>
            <a:spLocks noGrp="1"/>
          </p:cNvSpPr>
          <p:nvPr>
            <p:ph type="body" idx="21"/>
          </p:nvPr>
        </p:nvSpPr>
        <p:spPr>
          <a:xfrm>
            <a:off x="685800" y="2240280"/>
            <a:ext cx="3383280" cy="320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Destination Nigeria brings</a:t>
            </a:r>
          </a:p>
        </p:txBody>
      </p:sp>
      <p:sp>
        <p:nvSpPr>
          <p:cNvPr id="123" name="Body 123"/>
          <p:cNvSpPr>
            <a:spLocks noGrp="1"/>
          </p:cNvSpPr>
          <p:nvPr>
            <p:ph type="body" idx="1"/>
          </p:nvPr>
        </p:nvSpPr>
        <p:spPr>
          <a:xfrm>
            <a:off x="685800" y="2651760"/>
            <a:ext cx="3383280" cy="3108960"/>
          </a:xfrm>
        </p:spPr>
        <p:txBody>
          <a:bodyPr lIns="0" tIns="0" rIns="0" bIns="0" anchor="t">
            <a:normAutofit/>
          </a:bodyPr>
          <a:lstStyle>
            <a:lvl1pPr algn="l" marL="228600" indent="-228600">
              <a:lnSpc>
                <a:spcPct val="112000"/>
              </a:lnSpc>
              <a:spcBef>
                <a:spcPts val="600"/>
              </a:spcBef>
              <a:buClr>
                <a:srgbClr val="103428"/>
              </a:buClr>
              <a:buFont typeface="Public Sans"/>
              <a:buChar char="•"/>
              <a:defRPr sz="13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Commitment</a:t>
            </a:r>
          </a:p>
        </p:txBody>
      </p:sp>
      <p:sp>
        <p:nvSpPr>
          <p:cNvPr id="124" name="Brand shape"/>
          <p:cNvSpPr/>
          <p:nvPr userDrawn="1"/>
        </p:nvSpPr>
        <p:spPr>
          <a:xfrm>
            <a:off x="4407408" y="2103120"/>
            <a:ext cx="338328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5" name="Body 125"/>
          <p:cNvSpPr>
            <a:spLocks noGrp="1"/>
          </p:cNvSpPr>
          <p:nvPr>
            <p:ph type="body" idx="22"/>
          </p:nvPr>
        </p:nvSpPr>
        <p:spPr>
          <a:xfrm>
            <a:off x="4407408" y="2240280"/>
            <a:ext cx="3383280" cy="320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The partner brings</a:t>
            </a:r>
          </a:p>
        </p:txBody>
      </p:sp>
      <p:sp>
        <p:nvSpPr>
          <p:cNvPr id="126" name="Body 126"/>
          <p:cNvSpPr>
            <a:spLocks noGrp="1"/>
          </p:cNvSpPr>
          <p:nvPr>
            <p:ph type="body" idx="2"/>
          </p:nvPr>
        </p:nvSpPr>
        <p:spPr>
          <a:xfrm>
            <a:off x="4407408" y="2651760"/>
            <a:ext cx="3383280" cy="3108960"/>
          </a:xfrm>
        </p:spPr>
        <p:txBody>
          <a:bodyPr lIns="0" tIns="0" rIns="0" bIns="0" anchor="t">
            <a:normAutofit/>
          </a:bodyPr>
          <a:lstStyle>
            <a:lvl1pPr algn="l" marL="228600" indent="-228600">
              <a:lnSpc>
                <a:spcPct val="112000"/>
              </a:lnSpc>
              <a:spcBef>
                <a:spcPts val="600"/>
              </a:spcBef>
              <a:buClr>
                <a:srgbClr val="103428"/>
              </a:buClr>
              <a:buFont typeface="Public Sans"/>
              <a:buChar char="•"/>
              <a:defRPr sz="13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Commitment</a:t>
            </a:r>
          </a:p>
        </p:txBody>
      </p:sp>
      <p:sp>
        <p:nvSpPr>
          <p:cNvPr id="127" name="Brand shape"/>
          <p:cNvSpPr/>
          <p:nvPr userDrawn="1"/>
        </p:nvSpPr>
        <p:spPr>
          <a:xfrm>
            <a:off x="8119872" y="2103120"/>
            <a:ext cx="338328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8" name="Body 128"/>
          <p:cNvSpPr>
            <a:spLocks noGrp="1"/>
          </p:cNvSpPr>
          <p:nvPr>
            <p:ph type="body" idx="23"/>
          </p:nvPr>
        </p:nvSpPr>
        <p:spPr>
          <a:xfrm>
            <a:off x="8119872" y="2240280"/>
            <a:ext cx="3383280" cy="320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Together we deliver</a:t>
            </a:r>
          </a:p>
        </p:txBody>
      </p:sp>
      <p:sp>
        <p:nvSpPr>
          <p:cNvPr id="129" name="Body 129"/>
          <p:cNvSpPr>
            <a:spLocks noGrp="1"/>
          </p:cNvSpPr>
          <p:nvPr>
            <p:ph type="body" idx="3"/>
          </p:nvPr>
        </p:nvSpPr>
        <p:spPr>
          <a:xfrm>
            <a:off x="8119872" y="2651760"/>
            <a:ext cx="3383280" cy="3108960"/>
          </a:xfrm>
        </p:spPr>
        <p:txBody>
          <a:bodyPr lIns="0" tIns="0" rIns="0" bIns="0" anchor="t">
            <a:normAutofit/>
          </a:bodyPr>
          <a:lstStyle>
            <a:lvl1pPr algn="l" marL="228600" indent="-228600">
              <a:lnSpc>
                <a:spcPct val="112000"/>
              </a:lnSpc>
              <a:spcBef>
                <a:spcPts val="600"/>
              </a:spcBef>
              <a:buClr>
                <a:srgbClr val="103428"/>
              </a:buClr>
              <a:buFont typeface="Public Sans"/>
              <a:buChar char="•"/>
              <a:defRPr sz="13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Outcome and how it is measured</a:t>
            </a:r>
          </a:p>
        </p:txBody>
      </p:sp>
      <p:pic>
        <p:nvPicPr>
          <p:cNvPr id="130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131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3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13 Financial table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Financials</a:t>
            </a:r>
          </a:p>
        </p:txBody>
      </p:sp>
      <p:sp>
        <p:nvSpPr>
          <p:cNvPr id="133" name="Title 133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The headline number and what drives it</a:t>
            </a:r>
          </a:p>
        </p:txBody>
      </p:sp>
      <p:sp>
        <p:nvSpPr>
          <p:cNvPr id="134" name="Tbl 134"/>
          <p:cNvSpPr>
            <a:spLocks noGrp="1"/>
          </p:cNvSpPr>
          <p:nvPr>
            <p:ph type="tbl" idx="14"/>
          </p:nvPr>
        </p:nvSpPr>
        <p:spPr>
          <a:xfrm>
            <a:off x="685800" y="2103120"/>
            <a:ext cx="10820095" cy="356616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6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Insert table</a:t>
            </a:r>
          </a:p>
        </p:txBody>
      </p:sp>
      <p:sp>
        <p:nvSpPr>
          <p:cNvPr id="135" name="Source"/>
          <p:cNvSpPr>
            <a:spLocks noGrp="1"/>
          </p:cNvSpPr>
          <p:nvPr>
            <p:ph type="body" idx="30"/>
          </p:nvPr>
        </p:nvSpPr>
        <p:spPr>
          <a:xfrm>
            <a:off x="685800" y="5989320"/>
            <a:ext cx="7772400" cy="2286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9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Figures in ₦ million unless stated. Source: [audited accounts / budget, year]</a:t>
            </a:r>
          </a:p>
        </p:txBody>
      </p:sp>
      <p:pic>
        <p:nvPicPr>
          <p:cNvPr id="136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137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4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14 Recommendations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Recommendations</a:t>
            </a:r>
          </a:p>
        </p:txBody>
      </p:sp>
      <p:sp>
        <p:nvSpPr>
          <p:cNvPr id="139" name="Title 139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What we recommend</a:t>
            </a:r>
          </a:p>
        </p:txBody>
      </p:sp>
      <p:sp>
        <p:nvSpPr>
          <p:cNvPr id="140" name="Brand shape"/>
          <p:cNvSpPr/>
          <p:nvPr userDrawn="1"/>
        </p:nvSpPr>
        <p:spPr>
          <a:xfrm>
            <a:off x="685800" y="2148840"/>
            <a:ext cx="512064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1" name="Number"/>
          <p:cNvSpPr>
            <a:spLocks noGrp="1"/>
          </p:cNvSpPr>
          <p:nvPr>
            <p:ph type="body" idx="21"/>
          </p:nvPr>
        </p:nvSpPr>
        <p:spPr>
          <a:xfrm>
            <a:off x="685800" y="2286000"/>
            <a:ext cx="548640" cy="5486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000" b="0" i="0" spc="0">
                <a:solidFill>
                  <a:srgbClr val="8A5A0C"/>
                </a:solidFill>
                <a:latin typeface="+mj-lt"/>
              </a:defRPr>
            </a:lvl1pPr>
          </a:lstStyle>
          <a:p>
            <a:pPr algn="l"/>
            <a:r>
              <a:rPr lang="en-GB"/>
              <a:t>1</a:t>
            </a:r>
          </a:p>
        </p:txBody>
      </p:sp>
      <p:sp>
        <p:nvSpPr>
          <p:cNvPr id="142" name="Recommendation"/>
          <p:cNvSpPr>
            <a:spLocks noGrp="1"/>
          </p:cNvSpPr>
          <p:nvPr>
            <p:ph type="body" idx="31"/>
          </p:nvPr>
        </p:nvSpPr>
        <p:spPr>
          <a:xfrm>
            <a:off x="1371600" y="2331720"/>
            <a:ext cx="4434840" cy="4114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500" b="1" i="0" spc="0">
                <a:solidFill>
                  <a:srgbClr val="103428"/>
                </a:solidFill>
                <a:latin typeface="+mn-lt"/>
              </a:defRPr>
            </a:lvl1pPr>
          </a:lstStyle>
          <a:p>
            <a:pPr algn="l"/>
            <a:r>
              <a:rPr lang="en-GB"/>
              <a:t>Recommendation</a:t>
            </a:r>
          </a:p>
        </p:txBody>
      </p:sp>
      <p:sp>
        <p:nvSpPr>
          <p:cNvPr id="143" name="Detail"/>
          <p:cNvSpPr>
            <a:spLocks noGrp="1"/>
          </p:cNvSpPr>
          <p:nvPr>
            <p:ph type="body" idx="41"/>
          </p:nvPr>
        </p:nvSpPr>
        <p:spPr>
          <a:xfrm>
            <a:off x="1371600" y="2743200"/>
            <a:ext cx="4434840" cy="10058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Owner, timing and the decision required.</a:t>
            </a:r>
          </a:p>
        </p:txBody>
      </p:sp>
      <p:sp>
        <p:nvSpPr>
          <p:cNvPr id="144" name="Brand shape"/>
          <p:cNvSpPr/>
          <p:nvPr userDrawn="1"/>
        </p:nvSpPr>
        <p:spPr>
          <a:xfrm>
            <a:off x="6126480" y="2148840"/>
            <a:ext cx="512064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5" name="Number"/>
          <p:cNvSpPr>
            <a:spLocks noGrp="1"/>
          </p:cNvSpPr>
          <p:nvPr>
            <p:ph type="body" idx="22"/>
          </p:nvPr>
        </p:nvSpPr>
        <p:spPr>
          <a:xfrm>
            <a:off x="6126480" y="2286000"/>
            <a:ext cx="548640" cy="5486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000" b="0" i="0" spc="0">
                <a:solidFill>
                  <a:srgbClr val="8A5A0C"/>
                </a:solidFill>
                <a:latin typeface="+mj-lt"/>
              </a:defRPr>
            </a:lvl1pPr>
          </a:lstStyle>
          <a:p>
            <a:pPr algn="l"/>
            <a:r>
              <a:rPr lang="en-GB"/>
              <a:t>2</a:t>
            </a:r>
          </a:p>
        </p:txBody>
      </p:sp>
      <p:sp>
        <p:nvSpPr>
          <p:cNvPr id="146" name="Recommendation"/>
          <p:cNvSpPr>
            <a:spLocks noGrp="1"/>
          </p:cNvSpPr>
          <p:nvPr>
            <p:ph type="body" idx="32"/>
          </p:nvPr>
        </p:nvSpPr>
        <p:spPr>
          <a:xfrm>
            <a:off x="6812280" y="2331720"/>
            <a:ext cx="4434840" cy="4114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500" b="1" i="0" spc="0">
                <a:solidFill>
                  <a:srgbClr val="103428"/>
                </a:solidFill>
                <a:latin typeface="+mn-lt"/>
              </a:defRPr>
            </a:lvl1pPr>
          </a:lstStyle>
          <a:p>
            <a:pPr algn="l"/>
            <a:r>
              <a:rPr lang="en-GB"/>
              <a:t>Recommendation</a:t>
            </a:r>
          </a:p>
        </p:txBody>
      </p:sp>
      <p:sp>
        <p:nvSpPr>
          <p:cNvPr id="147" name="Detail"/>
          <p:cNvSpPr>
            <a:spLocks noGrp="1"/>
          </p:cNvSpPr>
          <p:nvPr>
            <p:ph type="body" idx="42"/>
          </p:nvPr>
        </p:nvSpPr>
        <p:spPr>
          <a:xfrm>
            <a:off x="6812280" y="2743200"/>
            <a:ext cx="4434840" cy="10058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Owner, timing and the decision required.</a:t>
            </a:r>
          </a:p>
        </p:txBody>
      </p:sp>
      <p:sp>
        <p:nvSpPr>
          <p:cNvPr id="148" name="Brand shape"/>
          <p:cNvSpPr/>
          <p:nvPr userDrawn="1"/>
        </p:nvSpPr>
        <p:spPr>
          <a:xfrm>
            <a:off x="685800" y="4023360"/>
            <a:ext cx="512064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9" name="Number"/>
          <p:cNvSpPr>
            <a:spLocks noGrp="1"/>
          </p:cNvSpPr>
          <p:nvPr>
            <p:ph type="body" idx="23"/>
          </p:nvPr>
        </p:nvSpPr>
        <p:spPr>
          <a:xfrm>
            <a:off x="685800" y="4160520"/>
            <a:ext cx="548640" cy="5486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000" b="0" i="0" spc="0">
                <a:solidFill>
                  <a:srgbClr val="8A5A0C"/>
                </a:solidFill>
                <a:latin typeface="+mj-lt"/>
              </a:defRPr>
            </a:lvl1pPr>
          </a:lstStyle>
          <a:p>
            <a:pPr algn="l"/>
            <a:r>
              <a:rPr lang="en-GB"/>
              <a:t>3</a:t>
            </a:r>
          </a:p>
        </p:txBody>
      </p:sp>
      <p:sp>
        <p:nvSpPr>
          <p:cNvPr id="150" name="Recommendation"/>
          <p:cNvSpPr>
            <a:spLocks noGrp="1"/>
          </p:cNvSpPr>
          <p:nvPr>
            <p:ph type="body" idx="33"/>
          </p:nvPr>
        </p:nvSpPr>
        <p:spPr>
          <a:xfrm>
            <a:off x="1371600" y="4206240"/>
            <a:ext cx="4434840" cy="4114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500" b="1" i="0" spc="0">
                <a:solidFill>
                  <a:srgbClr val="103428"/>
                </a:solidFill>
                <a:latin typeface="+mn-lt"/>
              </a:defRPr>
            </a:lvl1pPr>
          </a:lstStyle>
          <a:p>
            <a:pPr algn="l"/>
            <a:r>
              <a:rPr lang="en-GB"/>
              <a:t>Recommendation</a:t>
            </a:r>
          </a:p>
        </p:txBody>
      </p:sp>
      <p:sp>
        <p:nvSpPr>
          <p:cNvPr id="151" name="Detail"/>
          <p:cNvSpPr>
            <a:spLocks noGrp="1"/>
          </p:cNvSpPr>
          <p:nvPr>
            <p:ph type="body" idx="43"/>
          </p:nvPr>
        </p:nvSpPr>
        <p:spPr>
          <a:xfrm>
            <a:off x="1371600" y="4617720"/>
            <a:ext cx="4434840" cy="10058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Owner, timing and the decision required.</a:t>
            </a:r>
          </a:p>
        </p:txBody>
      </p:sp>
      <p:sp>
        <p:nvSpPr>
          <p:cNvPr id="152" name="Brand shape"/>
          <p:cNvSpPr/>
          <p:nvPr userDrawn="1"/>
        </p:nvSpPr>
        <p:spPr>
          <a:xfrm>
            <a:off x="6126480" y="4023360"/>
            <a:ext cx="512064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3" name="Number"/>
          <p:cNvSpPr>
            <a:spLocks noGrp="1"/>
          </p:cNvSpPr>
          <p:nvPr>
            <p:ph type="body" idx="24"/>
          </p:nvPr>
        </p:nvSpPr>
        <p:spPr>
          <a:xfrm>
            <a:off x="6126480" y="4160520"/>
            <a:ext cx="548640" cy="5486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000" b="0" i="0" spc="0">
                <a:solidFill>
                  <a:srgbClr val="8A5A0C"/>
                </a:solidFill>
                <a:latin typeface="+mj-lt"/>
              </a:defRPr>
            </a:lvl1pPr>
          </a:lstStyle>
          <a:p>
            <a:pPr algn="l"/>
            <a:r>
              <a:rPr lang="en-GB"/>
              <a:t>4</a:t>
            </a:r>
          </a:p>
        </p:txBody>
      </p:sp>
      <p:sp>
        <p:nvSpPr>
          <p:cNvPr id="154" name="Recommendation"/>
          <p:cNvSpPr>
            <a:spLocks noGrp="1"/>
          </p:cNvSpPr>
          <p:nvPr>
            <p:ph type="body" idx="34"/>
          </p:nvPr>
        </p:nvSpPr>
        <p:spPr>
          <a:xfrm>
            <a:off x="6812280" y="4206240"/>
            <a:ext cx="4434840" cy="41148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500" b="1" i="0" spc="0">
                <a:solidFill>
                  <a:srgbClr val="103428"/>
                </a:solidFill>
                <a:latin typeface="+mn-lt"/>
              </a:defRPr>
            </a:lvl1pPr>
          </a:lstStyle>
          <a:p>
            <a:pPr algn="l"/>
            <a:r>
              <a:rPr lang="en-GB"/>
              <a:t>Recommendation</a:t>
            </a:r>
          </a:p>
        </p:txBody>
      </p:sp>
      <p:sp>
        <p:nvSpPr>
          <p:cNvPr id="155" name="Detail"/>
          <p:cNvSpPr>
            <a:spLocks noGrp="1"/>
          </p:cNvSpPr>
          <p:nvPr>
            <p:ph type="body" idx="44"/>
          </p:nvPr>
        </p:nvSpPr>
        <p:spPr>
          <a:xfrm>
            <a:off x="6812280" y="4617720"/>
            <a:ext cx="4434840" cy="10058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Owner, timing and the decision required.</a:t>
            </a:r>
          </a:p>
        </p:txBody>
      </p:sp>
      <p:pic>
        <p:nvPicPr>
          <p:cNvPr id="156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157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5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15 Quotation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Body 158"/>
          <p:cNvSpPr>
            <a:spLocks noGrp="1"/>
          </p:cNvSpPr>
          <p:nvPr>
            <p:ph type="body" idx="1"/>
          </p:nvPr>
        </p:nvSpPr>
        <p:spPr>
          <a:xfrm>
            <a:off x="685800" y="1188720"/>
            <a:ext cx="9601200" cy="32918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6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“A quotation that has been approved by the person who said it.”</a:t>
            </a:r>
          </a:p>
        </p:txBody>
      </p:sp>
      <p:sp>
        <p:nvSpPr>
          <p:cNvPr id="159" name="Brand shape"/>
          <p:cNvSpPr/>
          <p:nvPr userDrawn="1"/>
        </p:nvSpPr>
        <p:spPr>
          <a:xfrm>
            <a:off x="685800" y="4800600"/>
            <a:ext cx="2743200" cy="10972"/>
          </a:xfrm>
          <a:prstGeom prst="rect">
            <a:avLst/>
          </a:prstGeom>
          <a:solidFill>
            <a:srgbClr val="E7DFC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0" name="Body 160"/>
          <p:cNvSpPr>
            <a:spLocks noGrp="1"/>
          </p:cNvSpPr>
          <p:nvPr>
            <p:ph type="body" idx="2"/>
          </p:nvPr>
        </p:nvSpPr>
        <p:spPr>
          <a:xfrm>
            <a:off x="685800" y="4937760"/>
            <a:ext cx="7315200" cy="320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300" b="1" i="0" spc="0">
                <a:solidFill>
                  <a:srgbClr val="103428"/>
                </a:solidFill>
                <a:latin typeface="+mn-lt"/>
              </a:defRPr>
            </a:lvl1pPr>
          </a:lstStyle>
          <a:p>
            <a:pPr algn="l"/>
            <a:r>
              <a:rPr lang="en-GB"/>
              <a:t>Name</a:t>
            </a:r>
          </a:p>
        </p:txBody>
      </p:sp>
      <p:sp>
        <p:nvSpPr>
          <p:cNvPr id="161" name="Body 161"/>
          <p:cNvSpPr>
            <a:spLocks noGrp="1"/>
          </p:cNvSpPr>
          <p:nvPr>
            <p:ph type="body" idx="3"/>
          </p:nvPr>
        </p:nvSpPr>
        <p:spPr>
          <a:xfrm>
            <a:off x="685800" y="5285232"/>
            <a:ext cx="7315200" cy="32004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200" b="0" i="0" spc="0">
                <a:solidFill>
                  <a:srgbClr val="5F6662"/>
                </a:solidFill>
                <a:latin typeface="+mn-lt"/>
              </a:defRPr>
            </a:lvl1pPr>
          </a:lstStyle>
          <a:p>
            <a:pPr algn="l"/>
            <a:r>
              <a:rPr lang="en-GB"/>
              <a:t>Role, organisation</a:t>
            </a:r>
          </a:p>
        </p:txBody>
      </p:sp>
      <p:pic>
        <p:nvPicPr>
          <p:cNvPr id="162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163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6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16 Photograph">
    <p:bg>
      <p:bgPr>
        <a:solidFill>
          <a:srgbClr val="103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ic 164"/>
          <p:cNvSpPr>
            <a:spLocks noGrp="1"/>
          </p:cNvSpPr>
          <p:nvPr>
            <p:ph type="pic" idx="13"/>
          </p:nvPr>
        </p:nvSpPr>
        <p:spPr>
          <a:xfrm>
            <a:off x="0" y="0"/>
            <a:ext cx="12191695" cy="5989320"/>
          </a:xfrm>
          <a:solidFill>
            <a:srgbClr val="E7DFCF"/>
          </a:solidFill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600" b="0" i="0" spc="0">
                <a:solidFill>
                  <a:srgbClr val="1B201E"/>
                </a:solidFill>
                <a:latin typeface="+mn-lt"/>
              </a:defRPr>
            </a:lvl1pPr>
          </a:lstStyle>
          <a:p>
            <a:pPr algn="l"/>
            <a:r>
              <a:rPr lang="en-GB"/>
              <a:t>Insert a photograph from 06/LIBRARY</a:t>
            </a:r>
          </a:p>
        </p:txBody>
      </p:sp>
      <p:sp>
        <p:nvSpPr>
          <p:cNvPr id="165" name="Caption"/>
          <p:cNvSpPr>
            <a:spLocks noGrp="1"/>
          </p:cNvSpPr>
          <p:nvPr>
            <p:ph type="body" idx="1"/>
          </p:nvPr>
        </p:nvSpPr>
        <p:spPr>
          <a:xfrm>
            <a:off x="685800" y="6199632"/>
            <a:ext cx="7772400" cy="2743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100" b="0" i="0" spc="0">
                <a:solidFill>
                  <a:srgbClr val="F5F0E6"/>
                </a:solidFill>
                <a:latin typeface="+mn-lt"/>
              </a:defRPr>
            </a:lvl1pPr>
          </a:lstStyle>
          <a:p>
            <a:pPr algn="l"/>
            <a:r>
              <a:rPr lang="en-GB"/>
              <a:t>Place, State</a:t>
            </a:r>
          </a:p>
        </p:txBody>
      </p:sp>
      <p:sp>
        <p:nvSpPr>
          <p:cNvPr id="166" name="Credit"/>
          <p:cNvSpPr>
            <a:spLocks noGrp="1"/>
          </p:cNvSpPr>
          <p:nvPr>
            <p:ph type="body" idx="2"/>
          </p:nvPr>
        </p:nvSpPr>
        <p:spPr>
          <a:xfrm>
            <a:off x="8549640" y="6199632"/>
            <a:ext cx="2224735" cy="274320"/>
          </a:xfrm>
        </p:spPr>
        <p:txBody>
          <a:bodyPr lIns="0" tIns="0" rIns="0" bIns="0" anchor="t">
            <a:normAutofit/>
          </a:bodyPr>
          <a:lstStyle>
            <a:lvl1pPr algn="r" marL="0" indent="0">
              <a:lnSpc>
                <a:spcPct val="112000"/>
              </a:lnSpc>
              <a:spcBef>
                <a:spcPts val="600"/>
              </a:spcBef>
              <a:buNone/>
              <a:defRPr sz="900" b="0" i="0" spc="0">
                <a:solidFill>
                  <a:srgbClr val="A9BFA9"/>
                </a:solidFill>
                <a:latin typeface="+mn-lt"/>
              </a:defRPr>
            </a:lvl1pPr>
          </a:lstStyle>
          <a:p>
            <a:pPr algn="r"/>
            <a:r>
              <a:rPr lang="en-GB"/>
              <a:t>Photo: credit</a:t>
            </a:r>
          </a:p>
        </p:txBody>
      </p:sp>
    </p:spTree>
  </p:cSld>
  <p:clrMapOvr>
    <a:masterClrMapping/>
  </p:clrMapOvr>
</p:sldLayout>
</file>

<file path=ppt/slideLayouts/slideLayout117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17 Closing and contact">
    <p:bg>
      <p:bgPr>
        <a:solidFill>
          <a:srgbClr val="103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late: Agbokim Waterfalls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3840" y="0"/>
            <a:ext cx="4325112" cy="5406390"/>
          </a:xfrm>
          <a:prstGeom prst="rect">
            <a:avLst/>
          </a:prstGeom>
        </p:spPr>
      </p:pic>
      <p:pic>
        <p:nvPicPr>
          <p:cNvPr id="168" name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5800" y="685800"/>
            <a:ext cx="2011680" cy="790747"/>
          </a:xfrm>
          <a:prstGeom prst="rect">
            <a:avLst/>
          </a:prstGeom>
        </p:spPr>
      </p:pic>
      <p:sp>
        <p:nvSpPr>
          <p:cNvPr id="169" name="Title 169"/>
          <p:cNvSpPr>
            <a:spLocks noGrp="1"/>
          </p:cNvSpPr>
          <p:nvPr>
            <p:ph type="title"/>
          </p:nvPr>
        </p:nvSpPr>
        <p:spPr>
          <a:xfrm>
            <a:off x="685800" y="2377440"/>
            <a:ext cx="6583680" cy="91440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4400" b="0" i="0" spc="0">
                <a:solidFill>
                  <a:srgbClr val="F5F0E6"/>
                </a:solidFill>
                <a:latin typeface="+mj-lt"/>
              </a:defRPr>
            </a:lvl1pPr>
          </a:lstStyle>
          <a:p>
            <a:pPr algn="l"/>
            <a:r>
              <a:rPr lang="en-GB"/>
              <a:t>Thank you.</a:t>
            </a:r>
          </a:p>
        </p:txBody>
      </p:sp>
      <p:sp>
        <p:nvSpPr>
          <p:cNvPr id="170" name="Brand shape"/>
          <p:cNvSpPr/>
          <p:nvPr userDrawn="1"/>
        </p:nvSpPr>
        <p:spPr>
          <a:xfrm>
            <a:off x="685800" y="3566160"/>
            <a:ext cx="6583680" cy="10972"/>
          </a:xfrm>
          <a:prstGeom prst="rect">
            <a:avLst/>
          </a:prstGeom>
          <a:solidFill>
            <a:srgbClr val="2C504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1" name="Brand text"/>
          <p:cNvSpPr txBox="1"/>
          <p:nvPr userDrawn="1"/>
        </p:nvSpPr>
        <p:spPr>
          <a:xfrm>
            <a:off x="685800" y="3749039"/>
            <a:ext cx="18288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b="1" spc="80">
                <a:solidFill>
                  <a:srgbClr val="A9BFA9"/>
                </a:solidFill>
                <a:latin typeface="+mn-lt"/>
              </a:rPr>
              <a:t>TELEPHONE</a:t>
            </a:r>
          </a:p>
        </p:txBody>
      </p:sp>
      <p:sp>
        <p:nvSpPr>
          <p:cNvPr id="172" name="Brand text"/>
          <p:cNvSpPr txBox="1"/>
          <p:nvPr userDrawn="1"/>
        </p:nvSpPr>
        <p:spPr>
          <a:xfrm>
            <a:off x="2606040" y="3749039"/>
            <a:ext cx="45720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1400" b="0" spc="0">
                <a:solidFill>
                  <a:srgbClr val="F5F0E6"/>
                </a:solidFill>
                <a:latin typeface="+mn-lt"/>
              </a:rPr>
              <a:t>+234 909 884 3308</a:t>
            </a:r>
          </a:p>
        </p:txBody>
      </p:sp>
      <p:sp>
        <p:nvSpPr>
          <p:cNvPr id="173" name="Brand text"/>
          <p:cNvSpPr txBox="1"/>
          <p:nvPr userDrawn="1"/>
        </p:nvSpPr>
        <p:spPr>
          <a:xfrm>
            <a:off x="685800" y="4114800"/>
            <a:ext cx="18288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b="1" spc="80">
                <a:solidFill>
                  <a:srgbClr val="A9BFA9"/>
                </a:solidFill>
                <a:latin typeface="+mn-lt"/>
              </a:rPr>
              <a:t>GENERAL</a:t>
            </a:r>
          </a:p>
        </p:txBody>
      </p:sp>
      <p:sp>
        <p:nvSpPr>
          <p:cNvPr id="174" name="Brand text"/>
          <p:cNvSpPr txBox="1"/>
          <p:nvPr userDrawn="1"/>
        </p:nvSpPr>
        <p:spPr>
          <a:xfrm>
            <a:off x="2606040" y="4114800"/>
            <a:ext cx="45720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1400" b="0" spc="0">
                <a:solidFill>
                  <a:srgbClr val="F5F0E6"/>
                </a:solidFill>
                <a:latin typeface="+mn-lt"/>
              </a:rPr>
              <a:t>info@destinationnigeria.org</a:t>
            </a:r>
          </a:p>
        </p:txBody>
      </p:sp>
      <p:sp>
        <p:nvSpPr>
          <p:cNvPr id="175" name="Brand text"/>
          <p:cNvSpPr txBox="1"/>
          <p:nvPr userDrawn="1"/>
        </p:nvSpPr>
        <p:spPr>
          <a:xfrm>
            <a:off x="685800" y="4480560"/>
            <a:ext cx="18288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b="1" spc="80">
                <a:solidFill>
                  <a:srgbClr val="A9BFA9"/>
                </a:solidFill>
                <a:latin typeface="+mn-lt"/>
              </a:rPr>
              <a:t>EDDIE MADAKI</a:t>
            </a:r>
          </a:p>
        </p:txBody>
      </p:sp>
      <p:sp>
        <p:nvSpPr>
          <p:cNvPr id="176" name="Brand text"/>
          <p:cNvSpPr txBox="1"/>
          <p:nvPr userDrawn="1"/>
        </p:nvSpPr>
        <p:spPr>
          <a:xfrm>
            <a:off x="2606040" y="4480560"/>
            <a:ext cx="45720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1400" b="0" spc="0">
                <a:solidFill>
                  <a:srgbClr val="F5F0E6"/>
                </a:solidFill>
                <a:latin typeface="+mn-lt"/>
              </a:rPr>
              <a:t>eddiemadaki@destinationnigeria.org</a:t>
            </a:r>
          </a:p>
        </p:txBody>
      </p:sp>
      <p:sp>
        <p:nvSpPr>
          <p:cNvPr id="177" name="Brand text"/>
          <p:cNvSpPr txBox="1"/>
          <p:nvPr userDrawn="1"/>
        </p:nvSpPr>
        <p:spPr>
          <a:xfrm>
            <a:off x="685800" y="4846320"/>
            <a:ext cx="18288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900" b="1" spc="80">
                <a:solidFill>
                  <a:srgbClr val="A9BFA9"/>
                </a:solidFill>
                <a:latin typeface="+mn-lt"/>
              </a:rPr>
              <a:t>LULU</a:t>
            </a:r>
          </a:p>
        </p:txBody>
      </p:sp>
      <p:sp>
        <p:nvSpPr>
          <p:cNvPr id="178" name="Brand text"/>
          <p:cNvSpPr txBox="1"/>
          <p:nvPr userDrawn="1"/>
        </p:nvSpPr>
        <p:spPr>
          <a:xfrm>
            <a:off x="2606040" y="4846320"/>
            <a:ext cx="45720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1400" b="0" spc="0">
                <a:solidFill>
                  <a:srgbClr val="F5F0E6"/>
                </a:solidFill>
                <a:latin typeface="+mn-lt"/>
              </a:rPr>
              <a:t>lulu@destinationnigeria.org</a:t>
            </a:r>
          </a:p>
        </p:txBody>
      </p:sp>
      <p:sp>
        <p:nvSpPr>
          <p:cNvPr id="179" name="Brand text"/>
          <p:cNvSpPr txBox="1"/>
          <p:nvPr userDrawn="1"/>
        </p:nvSpPr>
        <p:spPr>
          <a:xfrm>
            <a:off x="685800" y="5760720"/>
            <a:ext cx="45720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GB" sz="1100" b="0" spc="0">
                <a:solidFill>
                  <a:srgbClr val="A9BFA9"/>
                </a:solidFill>
                <a:latin typeface="+mn-lt"/>
              </a:rPr>
              <a:t>destinationnigeria.org</a:t>
            </a:r>
          </a:p>
        </p:txBody>
      </p:sp>
    </p:spTree>
  </p:cSld>
  <p:clrMapOvr>
    <a:masterClrMapping/>
  </p:clrMapOvr>
</p:sldLayout>
</file>

<file path=ppt/slideLayouts/slideLayout118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18 Title only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Label"/>
          <p:cNvSpPr>
            <a:spLocks noGrp="1"/>
          </p:cNvSpPr>
          <p:nvPr>
            <p:ph type="body" idx="20"/>
          </p:nvPr>
        </p:nvSpPr>
        <p:spPr>
          <a:xfrm>
            <a:off x="685800" y="566928"/>
            <a:ext cx="5486400" cy="237744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2000"/>
              </a:lnSpc>
              <a:spcBef>
                <a:spcPts val="600"/>
              </a:spcBef>
              <a:buNone/>
              <a:defRPr sz="1000" b="1" i="0" cap="all" spc="80">
                <a:solidFill>
                  <a:srgbClr val="8A5A0C"/>
                </a:solidFill>
                <a:latin typeface="+mn-lt"/>
              </a:defRPr>
            </a:lvl1pPr>
          </a:lstStyle>
          <a:p>
            <a:pPr algn="l"/>
            <a:r>
              <a:rPr lang="en-GB"/>
              <a:t>Section</a:t>
            </a:r>
          </a:p>
        </p:txBody>
      </p:sp>
      <p:sp>
        <p:nvSpPr>
          <p:cNvPr id="181" name="Title 181"/>
          <p:cNvSpPr>
            <a:spLocks noGrp="1"/>
          </p:cNvSpPr>
          <p:nvPr>
            <p:ph type="title"/>
          </p:nvPr>
        </p:nvSpPr>
        <p:spPr>
          <a:xfrm>
            <a:off x="685800" y="868680"/>
            <a:ext cx="10820095" cy="960120"/>
          </a:xfr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3200" b="0" i="0" spc="0">
                <a:solidFill>
                  <a:srgbClr val="103428"/>
                </a:solidFill>
                <a:latin typeface="+mj-lt"/>
              </a:defRPr>
            </a:lvl1pPr>
          </a:lstStyle>
          <a:p>
            <a:pPr algn="l"/>
            <a:r>
              <a:rPr lang="en-GB"/>
              <a:t>Write the slide's conclusion as its title</a:t>
            </a:r>
          </a:p>
        </p:txBody>
      </p:sp>
      <p:pic>
        <p:nvPicPr>
          <p:cNvPr id="182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183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9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 showMasterSp="0">
  <p:cSld name="19 Blank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Foote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6327648"/>
            <a:ext cx="914400" cy="359430"/>
          </a:xfrm>
          <a:prstGeom prst="rect">
            <a:avLst/>
          </a:prstGeom>
        </p:spPr>
      </p:pic>
      <p:sp>
        <p:nvSpPr>
          <p:cNvPr id="185" name="Slide number"/>
          <p:cNvSpPr txBox="1"/>
          <p:nvPr userDrawn="1"/>
        </p:nvSpPr>
        <p:spPr>
          <a:xfrm>
            <a:off x="10957255" y="6373368"/>
            <a:ext cx="548640" cy="23774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/>
            <a:fld id="{B6F15528-21DE-4FAA-801E-634DDDAF4B2B}" type="slidenum">
              <a:rPr lang="en-GB" sz="900">
                <a:solidFill>
                  <a:srgbClr val="5F6662"/>
                </a:solidFill>
                <a:latin typeface="+mn-lt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12.xml"/><Relationship Id="rId14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116.xml"/><Relationship Id="rId18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118.xml"/><Relationship Id="rId20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  <p:sldLayoutId id="2147483819" r:id="rId2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103428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1B201E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1B201E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1B201E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1B201E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1B201E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B201E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B201E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B201E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B201E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DN_photo_zuma-rock.jp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3552" b="23552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Zuma Rock, Niger State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Tourism development in Nigeria: a working presentation template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Prepared for partners and investors  ·  Destination Nigeria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alternative cover, set beside an engraved plate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for formal submissions, board papers and printed decks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Where Nigerian tourism stands, and why it matters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Write the conclusion first, then the evidence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executive summary is the slide most people read. State what you found, what it means and what you ask for, in plain sentences.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Lead each point with the claim; follow it with the number or source that proves it.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Keep to three points. A fourth usually belongs in the appendix.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End with the decision you need, who makes it and by when.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Strategy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pillars, each with the actions that deliver 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Experience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Name the places and journeys to promote first.</a:t>
            </a:r>
          </a:p>
          <a:p>
            <a:r>
              <a:t>Say who the visitor is.</a:t>
            </a:r>
          </a:p>
          <a:p>
            <a:r>
              <a:t>Say how success will be counted.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Invest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Name the projects ready for investment.</a:t>
            </a:r>
          </a:p>
          <a:p>
            <a:r>
              <a:t>State what each needs: land, approvals, capital.</a:t>
            </a:r>
          </a:p>
          <a:p>
            <a:r>
              <a:t>Say who the investor talks 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Finding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the finding as the title, so the slide can be read without the chart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3"/>
          </p:nvPr>
        </p:nvGraphicFramePr>
        <p:xfrm>
          <a:off x="685800" y="2103120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What the data shows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pattern in two or three sentences. Say how the data was collected and how many responses it rests on.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Illustrative data only: replace with verified figures and cite the source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full-width chart for trends over time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3"/>
          </p:nvPr>
        </p:nvGraphicFramePr>
        <p:xfrm>
          <a:off x="685800" y="2057400"/>
          <a:ext cx="10820095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Illustrative data only: replace with verified figures and cite the source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In figures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facts about the country, each with its source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36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states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Plus the Federal Capital Territory, Abuja.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774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local government areas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t>Set out in the First Schedule of the Constitution.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geopolitical zones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t>The regional grouping used for national planning.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Source: Constitution of the Federal Republic of Nigeria, 1999 (as amended).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milestones, read from left to right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Stage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Scoping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t>Agree aims, partners and the places in scope.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Stage 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Research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r>
              <a:t>Collect visitor, site and market evidence.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Stage 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r>
              <a:t>Prioritise destinations and projects.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Stage 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Invest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r>
              <a:t>Prepare and present investment cases.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Stage 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Launch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r>
              <a:t>Open, promote and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DN_photo_agbokim-waterfalls.jp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2483" r="2248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Agbokim Waterfalls, Cross River State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Investment opportunity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name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4"/>
          </p:nvPr>
        </p:nvGraphicFramePr>
        <p:xfrm>
          <a:off x="5440680" y="2240280"/>
          <a:ext cx="6062472" cy="2595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4142232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000" b="1" cap="all" spc="60">
                          <a:solidFill>
                            <a:srgbClr val="103428"/>
                          </a:solidFill>
                          <a:latin typeface="Public Sans"/>
                        </a:rPr>
                        <a:t>Item</a:t>
                      </a:r>
                    </a:p>
                  </a:txBody>
                  <a:tcPr marL="54864" marR="54864" marT="64008" marB="64008">
                    <a:noFill/>
                    <a:lnB w="12700">
                      <a:solidFill>
                        <a:srgbClr val="10342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cap="all" spc="60">
                          <a:solidFill>
                            <a:srgbClr val="103428"/>
                          </a:solidFill>
                          <a:latin typeface="Public Sans"/>
                        </a:rPr>
                        <a:t>Detail</a:t>
                      </a:r>
                    </a:p>
                  </a:txBody>
                  <a:tcPr marL="54864" marR="54864" marT="64008" marB="64008">
                    <a:noFill/>
                    <a:lnB w="12700">
                      <a:solidFill>
                        <a:srgbClr val="103428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Location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[LGA, State]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Category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[Eco-lodge / visitor centre / transport]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Stage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[Concept / feasibility / shovel-ready]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Investment sought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[₦ ___ million  ·  US$ ___]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Land and approvals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[Status]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Contact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info@destinationnigeria.org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Complete every row from verified project documents before sharing.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Partnership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Say what each side commits, and what the partnership delivers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Destination Nigeria brings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Destination promotion</a:t>
            </a:r>
          </a:p>
          <a:p>
            <a:r>
              <a:t>Access to the national network</a:t>
            </a:r>
          </a:p>
          <a:p>
            <a:r>
              <a:t>Convening and coordination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The partner brings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Capital or in-kind support</a:t>
            </a:r>
          </a:p>
          <a:p>
            <a:r>
              <a:t>Operating expertise</a:t>
            </a:r>
          </a:p>
          <a:p>
            <a:r>
              <a:t>Local knowledge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Together we deliver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A named outcome</a:t>
            </a:r>
          </a:p>
          <a:p>
            <a:r>
              <a:t>A measure and a date</a:t>
            </a:r>
          </a:p>
          <a:p>
            <a:r>
              <a:t>A shared review point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with the total, then show what makes it up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/>
          </p:nvPr>
        </p:nvGraphicFramePr>
        <p:xfrm>
          <a:off x="685800" y="2103120"/>
          <a:ext cx="10817351" cy="2225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50791"/>
                <a:gridCol w="1645920"/>
                <a:gridCol w="1645920"/>
                <a:gridCol w="1645920"/>
                <a:gridCol w="18288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000" b="1" cap="all" spc="60">
                          <a:solidFill>
                            <a:srgbClr val="103428"/>
                          </a:solidFill>
                          <a:latin typeface="Public Sans"/>
                        </a:rPr>
                        <a:t>Line item</a:t>
                      </a:r>
                    </a:p>
                  </a:txBody>
                  <a:tcPr marL="54864" marR="54864" marT="64008" marB="64008">
                    <a:noFill/>
                    <a:lnB w="12700">
                      <a:solidFill>
                        <a:srgbClr val="10342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cap="all" spc="60">
                          <a:solidFill>
                            <a:srgbClr val="103428"/>
                          </a:solidFill>
                          <a:latin typeface="Public Sans"/>
                        </a:rPr>
                        <a:t>2025</a:t>
                      </a:r>
                    </a:p>
                  </a:txBody>
                  <a:tcPr marL="54864" marR="54864" marT="64008" marB="64008">
                    <a:noFill/>
                    <a:lnB w="12700">
                      <a:solidFill>
                        <a:srgbClr val="10342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cap="all" spc="60">
                          <a:solidFill>
                            <a:srgbClr val="103428"/>
                          </a:solidFill>
                          <a:latin typeface="Public Sans"/>
                        </a:rPr>
                        <a:t>2026</a:t>
                      </a:r>
                    </a:p>
                  </a:txBody>
                  <a:tcPr marL="54864" marR="54864" marT="64008" marB="64008">
                    <a:noFill/>
                    <a:lnB w="12700">
                      <a:solidFill>
                        <a:srgbClr val="10342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cap="all" spc="60">
                          <a:solidFill>
                            <a:srgbClr val="103428"/>
                          </a:solidFill>
                          <a:latin typeface="Public Sans"/>
                        </a:rPr>
                        <a:t>2027</a:t>
                      </a:r>
                    </a:p>
                  </a:txBody>
                  <a:tcPr marL="54864" marR="54864" marT="64008" marB="64008">
                    <a:noFill/>
                    <a:lnB w="12700">
                      <a:solidFill>
                        <a:srgbClr val="10342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cap="all" spc="60">
                          <a:solidFill>
                            <a:srgbClr val="103428"/>
                          </a:solidFill>
                          <a:latin typeface="Public Sans"/>
                        </a:rPr>
                        <a:t>Change</a:t>
                      </a:r>
                    </a:p>
                  </a:txBody>
                  <a:tcPr marL="54864" marR="54864" marT="64008" marB="64008">
                    <a:noFill/>
                    <a:lnB w="12700">
                      <a:solidFill>
                        <a:srgbClr val="103428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Destination marketing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0.0 %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Site development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0.0 %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Training and skills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0.0 %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Research and data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201E"/>
                          </a:solidFill>
                          <a:latin typeface="Public Sans"/>
                        </a:rPr>
                        <a:t>0.0 %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3428"/>
                          </a:solidFill>
                          <a:latin typeface="Public Sans"/>
                        </a:rPr>
                        <a:t>Total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03428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03428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03428"/>
                          </a:solidFill>
                          <a:latin typeface="Public Sans"/>
                        </a:rPr>
                        <a:t>000.0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03428"/>
                          </a:solidFill>
                          <a:latin typeface="Public Sans"/>
                        </a:rPr>
                        <a:t>0.0 %</a:t>
                      </a:r>
                    </a:p>
                  </a:txBody>
                  <a:tcPr marL="54864" marR="54864" marT="64008" marB="64008">
                    <a:noFill/>
                    <a:lnB w="6350">
                      <a:solidFill>
                        <a:srgbClr val="E7DFC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Figures in ₦ million. Placeholder values: replace from audited accounts or the approved budget.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recommendations, each with an owner and a date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Recommendation one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t>Owner · timing · the decision required.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Recommendation two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r>
              <a:t>Owner · timing · the decision required.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Recommendation three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r>
              <a:t>Owner · timing · the decision required.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Recommendation four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r>
              <a:t>Owner · timing · the decision required.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DN_photo_idanre-hills.jpg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17249" b="1724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Idanre Hills, Ondo State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Photo: [credit to be confirmed]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“Use this layout only for a quotation that has been approved by the person who said it.”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Name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Role, organisation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stination Nigeria v2">
      <a:dk1>
        <a:srgbClr val="1B201E"/>
      </a:dk1>
      <a:lt1>
        <a:srgbClr val="FFFFFF"/>
      </a:lt1>
      <a:dk2>
        <a:srgbClr val="103428"/>
      </a:dk2>
      <a:lt2>
        <a:srgbClr val="F5F0E6"/>
      </a:lt2>
      <a:accent1>
        <a:srgbClr val="103428"/>
      </a:accent1>
      <a:accent2>
        <a:srgbClr val="2C5040"/>
      </a:accent2>
      <a:accent3>
        <a:srgbClr val="A9BFA9"/>
      </a:accent3>
      <a:accent4>
        <a:srgbClr val="8A5A0C"/>
      </a:accent4>
      <a:accent5>
        <a:srgbClr val="E8A432"/>
      </a:accent5>
      <a:accent6>
        <a:srgbClr val="5F6662"/>
      </a:accent6>
      <a:hlink>
        <a:srgbClr val="103428"/>
      </a:hlink>
      <a:folHlink>
        <a:srgbClr val="5F6662"/>
      </a:folHlink>
    </a:clrScheme>
    <a:fontScheme name="Destination Nigeria v2">
      <a:majorFont>
        <a:latin typeface="Newsreader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ublic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Destination Nigeria — presentation template v2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